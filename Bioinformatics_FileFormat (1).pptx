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7" r:id="rId12"/>
    <p:sldId id="278" r:id="rId13"/>
    <p:sldId id="279" r:id="rId14"/>
    <p:sldId id="267" r:id="rId15"/>
    <p:sldId id="280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81" r:id="rId24"/>
    <p:sldId id="282" r:id="rId25"/>
    <p:sldId id="265" r:id="rId26"/>
    <p:sldId id="283" r:id="rId27"/>
    <p:sldId id="284" r:id="rId28"/>
    <p:sldId id="285" r:id="rId29"/>
    <p:sldId id="286" r:id="rId30"/>
    <p:sldId id="275" r:id="rId31"/>
    <p:sldId id="27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0DDC5-218A-4535-954B-F1C1E6EF232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18BB1-7CE5-42A2-9EF5-5AF469EA60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286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A83A-440E-4CDA-BC2C-D66CF1C35274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556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EEFFD-1DF5-472D-A901-E5BFC906A1D7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13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3DA34-6278-4EFE-A60D-1F03F3F06C68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335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BECE-91C1-4470-867F-C63A27FB5345}" type="datetime1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967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FBCF-4F62-4E62-8638-40312FEDFD15}" type="datetime1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349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E43D7-029E-4049-B571-6361948721C7}" type="datetime1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758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BE64-7054-4AC3-9762-B056271F1256}" type="datetime1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59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BC95F-C499-4076-96EB-37C11617CA90}" type="datetime1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448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79860-AF98-4ECD-A188-D8709DAA6157}" type="datetime1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9103-A479-4F6A-9991-5BD02E9BB822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965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66BF5-5E27-4441-9481-09D6CE3E454A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423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23F0B-35E0-4F8F-AFCD-BAEA44E251E3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67547" y="64856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42C93-67CC-4400-9500-F2A139709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066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genome.ucsc.edu/FAQ/FAQformat#format7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equenceontology.org/gff3.shtml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genome.ucsc.edu/FAQ/FAQformat#format1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A646-7AC9-FC7F-4113-75FC7B8130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Bioinformatics </a:t>
            </a:r>
            <a:br>
              <a:rPr lang="en-IN" dirty="0"/>
            </a:br>
            <a:r>
              <a:rPr lang="en-IN" dirty="0"/>
              <a:t>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B8D94-7DDC-88C6-2BE8-57FC8B5225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A2273-C69D-AE51-F176-A7CEC0CD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43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D7686-8DD0-554C-8493-10E43DC32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Biological Databases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60998-4EBC-510D-09CF-D274DEA72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Understand the purpose of, and use of, bioinformatics databases resources, such as </a:t>
            </a:r>
            <a:r>
              <a:rPr lang="en-US" dirty="0" err="1"/>
              <a:t>GenBank,UniProt</a:t>
            </a:r>
            <a:r>
              <a:rPr lang="en-US" dirty="0"/>
              <a:t>/Swiss-</a:t>
            </a:r>
            <a:r>
              <a:rPr lang="en-US" dirty="0" err="1"/>
              <a:t>Prot</a:t>
            </a:r>
            <a:r>
              <a:rPr lang="en-US" dirty="0"/>
              <a:t>, Entrez and </a:t>
            </a:r>
            <a:r>
              <a:rPr lang="en-US" dirty="0" err="1"/>
              <a:t>Ensembl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Be able to recognize common database data formats and sequence identifiers and know what their primary use is.</a:t>
            </a:r>
          </a:p>
          <a:p>
            <a:pPr algn="just"/>
            <a:r>
              <a:rPr lang="en-US" dirty="0"/>
              <a:t>What kind of tools are available to visualize sequence data?</a:t>
            </a:r>
          </a:p>
          <a:p>
            <a:pPr algn="just"/>
            <a:r>
              <a:rPr lang="en-US" dirty="0"/>
              <a:t>Appreciate the issues surrounding bioinformatic database updating.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AA466-AC3C-0D4F-EC26-FCBC075AB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670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85919-A447-B800-640F-A527B641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Database Examples in Bioinformatics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88ACB-5570-2D31-830C-1975BA22F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8072898" cy="4437523"/>
          </a:xfrm>
        </p:spPr>
        <p:txBody>
          <a:bodyPr numCol="2">
            <a:normAutofit fontScale="92500" lnSpcReduction="10000"/>
          </a:bodyPr>
          <a:lstStyle/>
          <a:p>
            <a:r>
              <a:rPr lang="en-IN" dirty="0"/>
              <a:t>Primary (archival)</a:t>
            </a:r>
          </a:p>
          <a:p>
            <a:endParaRPr lang="en-IN" dirty="0"/>
          </a:p>
          <a:p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GenBank/EMBL/DDBJ</a:t>
            </a:r>
          </a:p>
          <a:p>
            <a:pPr marL="457200" lvl="1" indent="0">
              <a:buNone/>
            </a:pPr>
            <a:r>
              <a:rPr lang="en-IN" dirty="0"/>
              <a:t>	(</a:t>
            </a:r>
            <a:r>
              <a:rPr lang="en-IN" dirty="0" err="1"/>
              <a:t>seqs</a:t>
            </a:r>
            <a:r>
              <a:rPr lang="en-IN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PDB</a:t>
            </a:r>
          </a:p>
          <a:p>
            <a:pPr marL="457200" lvl="1" indent="0">
              <a:buNone/>
            </a:pPr>
            <a:r>
              <a:rPr lang="en-IN" dirty="0"/>
              <a:t>(protein structures)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Medline</a:t>
            </a:r>
          </a:p>
          <a:p>
            <a:pPr marL="457200" lvl="1" indent="0">
              <a:buNone/>
            </a:pPr>
            <a:r>
              <a:rPr lang="en-IN" dirty="0"/>
              <a:t>(literature)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Secondary (curated)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 err="1"/>
              <a:t>RefSeq</a:t>
            </a:r>
            <a:r>
              <a:rPr lang="en-IN" sz="2200" dirty="0"/>
              <a:t> (</a:t>
            </a:r>
            <a:r>
              <a:rPr lang="en-IN" sz="2200" dirty="0" err="1"/>
              <a:t>seqs</a:t>
            </a:r>
            <a:r>
              <a:rPr lang="en-IN" sz="2200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 err="1"/>
              <a:t>UniProt</a:t>
            </a:r>
            <a:r>
              <a:rPr lang="en-IN" sz="2200" dirty="0"/>
              <a:t>/</a:t>
            </a:r>
            <a:r>
              <a:rPr lang="en-IN" sz="2200" dirty="0" err="1"/>
              <a:t>SwissProt</a:t>
            </a:r>
            <a:endParaRPr lang="en-IN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/>
              <a:t>(</a:t>
            </a:r>
            <a:r>
              <a:rPr lang="en-IN" sz="2200" dirty="0" err="1"/>
              <a:t>seqs</a:t>
            </a:r>
            <a:r>
              <a:rPr lang="en-IN" sz="2200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/>
              <a:t>Taxon (taxonomy)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/>
              <a:t>PROSITE (binding sites)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/>
              <a:t>OMIM (genetics)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/>
              <a:t>literature/reviews)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 err="1"/>
              <a:t>IMEx</a:t>
            </a:r>
            <a:r>
              <a:rPr lang="en-IN" sz="2200" dirty="0"/>
              <a:t> databases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/>
              <a:t>(protein interactions)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FC069-F18A-F81E-A2C5-BCE6E2965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523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D13B-00C4-76B7-DC8A-5C9004E5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FE830-0BD8-24C6-7A8C-CE68FFB96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AFB297-4E2E-F48C-3BB2-69A2774E3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0" y="0"/>
            <a:ext cx="90215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8DC2A-EDD8-4303-901F-A5D055F3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689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6C2A9-AC33-7F1A-A144-452E0EA92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96EFD-E13A-172E-BC60-61410E879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7ADACB-2ECA-0DB2-8312-81A534499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79" y="178801"/>
            <a:ext cx="8781242" cy="599816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FBEEC-4BEE-2F30-9BFF-DF0DE1CC1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676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8B1FC-2209-3376-C567-6F8793FE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3C438-A524-B063-121B-B840B1782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B56BEE-58B4-5166-838B-067E5E0F7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77" y="296908"/>
            <a:ext cx="8131245" cy="626418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CFAA8-9747-9B61-3EED-43CC7BAF3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247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A022-18A0-6A4B-1C04-215CC8F24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82A24-7D11-FB88-CB9F-EAD332BDF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67E912-359B-138F-611F-AA0C186D5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93" y="209058"/>
            <a:ext cx="8790613" cy="628381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9F226-5FDD-9034-EA36-A54F23B8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05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EC7AC-91C9-CF62-72A9-DA7D4FC6B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39600-248E-B180-D14C-3B0675C1B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2B5C0A-A976-D416-49E7-FF00089E6B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8" t="11325" r="7931" b="3942"/>
          <a:stretch/>
        </p:blipFill>
        <p:spPr>
          <a:xfrm>
            <a:off x="165917" y="108154"/>
            <a:ext cx="8665556" cy="638472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A7ACC-15C7-8632-6DC1-52C94FFFF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644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5BD28-32E3-66A2-74CF-592B8241C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F930CE-2E0E-526B-6F4B-F0ED8FCD2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07" y="98767"/>
            <a:ext cx="8509422" cy="6488846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A39FD7A-554D-20BB-145A-4A498315D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27" r="12238" b="14735"/>
          <a:stretch/>
        </p:blipFill>
        <p:spPr>
          <a:xfrm>
            <a:off x="93331" y="5195904"/>
            <a:ext cx="1762714" cy="1563329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D27AE-2708-BFD8-F24C-A34EEEC5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432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7DB34-1092-0C26-C8BF-7096E8AEA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502" y="1"/>
            <a:ext cx="7886700" cy="845574"/>
          </a:xfrm>
        </p:spPr>
        <p:txBody>
          <a:bodyPr/>
          <a:lstStyle/>
          <a:p>
            <a:pPr algn="ctr"/>
            <a:r>
              <a:rPr lang="en-IN" dirty="0"/>
              <a:t>FASTA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0C4AB-F4B5-5568-7E43-6DEA1EE55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502" y="1769808"/>
            <a:ext cx="8515351" cy="1897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&gt;gi|121066|sp|P03069|GCN4_YEAST GENERAL CONTROL PROTEIN GCN4</a:t>
            </a:r>
          </a:p>
          <a:p>
            <a:pPr marL="0" indent="0">
              <a:buNone/>
            </a:pPr>
            <a:r>
              <a:rPr lang="en-IN" sz="2000" dirty="0"/>
              <a:t>MSEYQPSLFALNPMGFSPLDGSKSTNENVSASTSTAKPMVGQLIFDKFIKTEEDPIIKQDTPSNLDFDFALPQTATAPDAKTVLPIPELDDAVVESFFSSSTDSTPMFEYENLEDNSKEWTSLFDNDIPVTTDDVSLADKAIESTEEVSLVPSNLEVSTTSFLPTPVLEDAKLTQTRKVKKPNSVVKKSHHVGKDDESRLDHLGVVAYNRKQRSIPLSPIVPESSDPAALKRARNTEAARRSRARKLQRMKQLEDKVEELLSKNYHLENEVARLKKLVG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18802-614E-02C7-4C62-9CFB8597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665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AC430-48E7-4DC4-6A51-9D34C93D0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Multiple Fasta Sequences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2F4FB-3825-97F2-974C-D01A8B424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IN" dirty="0"/>
              <a:t>&gt; Your favourite gene 1 - yfg1</a:t>
            </a:r>
          </a:p>
          <a:p>
            <a:pPr marL="0" indent="0" algn="just">
              <a:buNone/>
            </a:pPr>
            <a:r>
              <a:rPr lang="en-IN" dirty="0"/>
              <a:t>MSEYQPSLFALNPMGFSPLDGSKSTNENVSASTSTAKPMVGQLIFDKFIKTEEDPI</a:t>
            </a:r>
          </a:p>
          <a:p>
            <a:pPr marL="0" indent="0" algn="just">
              <a:buNone/>
            </a:pPr>
            <a:r>
              <a:rPr lang="en-IN" dirty="0"/>
              <a:t>IKQDTPSNLDFDFALPQTATAPDAKTVLPIPELDDAVVESFFSSSTDSTPMFEYEN</a:t>
            </a:r>
          </a:p>
          <a:p>
            <a:pPr marL="0" indent="0" algn="just">
              <a:buNone/>
            </a:pPr>
            <a:r>
              <a:rPr lang="en-IN" dirty="0"/>
              <a:t>LEDNSKEWTSLFDNDIPVTTDDVSLADKAIESTEEVSLVPSNLEVSTTSFLPTPVL</a:t>
            </a:r>
          </a:p>
          <a:p>
            <a:pPr marL="0" indent="0" algn="just">
              <a:buNone/>
            </a:pPr>
            <a:r>
              <a:rPr lang="en-IN" dirty="0"/>
              <a:t>EDAKLTQTRKVKKPNSVVKKSHHVGKDDESRLDHLGVVAYNRKQRSIPLSPIVPES</a:t>
            </a:r>
          </a:p>
          <a:p>
            <a:pPr marL="0" indent="0" algn="just">
              <a:buNone/>
            </a:pPr>
            <a:r>
              <a:rPr lang="en-IN" dirty="0"/>
              <a:t>SDPAALKRARNTEAARRSRARKLQRMKQLEDKVEELLSKNYHLENEVARLKKLVGE</a:t>
            </a:r>
          </a:p>
          <a:p>
            <a:pPr marL="0" indent="0" algn="just">
              <a:buNone/>
            </a:pPr>
            <a:r>
              <a:rPr lang="en-IN" dirty="0"/>
              <a:t>R</a:t>
            </a:r>
          </a:p>
          <a:p>
            <a:pPr marL="0" indent="0" algn="just">
              <a:buNone/>
            </a:pPr>
            <a:r>
              <a:rPr lang="en-IN" dirty="0"/>
              <a:t>&gt; Your favourite gene 2 - yfg2</a:t>
            </a:r>
          </a:p>
          <a:p>
            <a:pPr marL="0" indent="0" algn="just">
              <a:buNone/>
            </a:pPr>
            <a:r>
              <a:rPr lang="en-IN" dirty="0"/>
              <a:t>MQPSLFALNPMGFSPLDGSKSTNENVSASTSTAKPMVGQLIFDKFIKTEEDPIVIV</a:t>
            </a:r>
          </a:p>
          <a:p>
            <a:pPr marL="0" indent="0" algn="just">
              <a:buNone/>
            </a:pPr>
            <a:r>
              <a:rPr lang="en-IN" dirty="0"/>
              <a:t>DTPSNLDFDFALPQTATAPDAKTVLPIPELDDAVVESFFSSSTDSTPMFEYENWTI</a:t>
            </a:r>
          </a:p>
          <a:p>
            <a:pPr marL="0" indent="0" algn="just">
              <a:buNone/>
            </a:pPr>
            <a:r>
              <a:rPr lang="en-IN" dirty="0"/>
              <a:t>TSLFDNDIPVTTDDVSLADKAIESTEEVSLVPSNLEVSTTSFLPTPVLLEDNSKEW</a:t>
            </a:r>
          </a:p>
          <a:p>
            <a:pPr marL="0" indent="0" algn="just">
              <a:buNone/>
            </a:pPr>
            <a:r>
              <a:rPr lang="en-IN" dirty="0"/>
              <a:t>EDAKLTQTRKVKKPNSVVKKSHHVGKDDESRLDHLGVVAYNRKQRSIPLSPIV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9B92C-D2E0-2F72-5437-E9B5B2F7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236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1833F8-8923-7B61-1A09-B76F6A58E3AE}"/>
              </a:ext>
            </a:extLst>
          </p:cNvPr>
          <p:cNvSpPr txBox="1"/>
          <p:nvPr/>
        </p:nvSpPr>
        <p:spPr>
          <a:xfrm>
            <a:off x="405580" y="1453079"/>
            <a:ext cx="8502446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/>
              <a:t>In GenBank, records are organized for various reasons. Understanding the rationale behind “groupings” and “numbering” systems for such databases is the key to fully taking advantage of database resources -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appropriately!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8ED12-9BE9-586D-CDA2-FC00F7856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912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9E65-D10C-BA05-5B01-12F57310D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5416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LOCUS vs Accession vs PID vs </a:t>
            </a:r>
            <a:r>
              <a:rPr lang="en-US" sz="2800" dirty="0" err="1"/>
              <a:t>protein_id</a:t>
            </a:r>
            <a:r>
              <a:rPr lang="en-US" sz="2800" dirty="0"/>
              <a:t>: What’s</a:t>
            </a:r>
            <a:br>
              <a:rPr lang="en-US" sz="2800" dirty="0"/>
            </a:br>
            <a:r>
              <a:rPr lang="en-US" sz="2800" dirty="0"/>
              <a:t>the difference?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0F304-D2D6-3111-7330-686BB5783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1317523"/>
            <a:ext cx="8436077" cy="5279922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/>
              <a:t>LOCUS</a:t>
            </a:r>
            <a:r>
              <a:rPr lang="en-US" sz="2000" dirty="0"/>
              <a:t>: Unique string of 10 letters and numbers in the database. Not maintained amongst databases.</a:t>
            </a:r>
          </a:p>
          <a:p>
            <a:pPr algn="just"/>
            <a:r>
              <a:rPr lang="en-US" sz="2000" b="1" dirty="0"/>
              <a:t>ACCESSION</a:t>
            </a:r>
            <a:r>
              <a:rPr lang="en-US" sz="2000" dirty="0"/>
              <a:t>: A unique identifier to that record (particular sequence) in GenBank/EMBL/DDBJ that does not change when record is updated.</a:t>
            </a:r>
          </a:p>
          <a:p>
            <a:pPr algn="just"/>
            <a:r>
              <a:rPr lang="en-US" sz="2000" b="1" dirty="0"/>
              <a:t>Nucleotide </a:t>
            </a:r>
            <a:r>
              <a:rPr lang="en-US" sz="2000" b="1" dirty="0" err="1"/>
              <a:t>gi</a:t>
            </a:r>
            <a:r>
              <a:rPr lang="en-US" sz="2000" dirty="0"/>
              <a:t>: </a:t>
            </a:r>
            <a:r>
              <a:rPr lang="en-US" sz="2000" dirty="0" err="1"/>
              <a:t>Geninfo</a:t>
            </a:r>
            <a:r>
              <a:rPr lang="en-US" sz="2000" dirty="0"/>
              <a:t> identifier (</a:t>
            </a:r>
            <a:r>
              <a:rPr lang="en-US" sz="2000" dirty="0" err="1"/>
              <a:t>gi</a:t>
            </a:r>
            <a:r>
              <a:rPr lang="en-US" sz="2000" dirty="0"/>
              <a:t>), a unique integer specific for GenBank which will change every time the sequence changes.</a:t>
            </a:r>
          </a:p>
          <a:p>
            <a:pPr algn="just"/>
            <a:r>
              <a:rPr lang="en-US" sz="2000" b="1" dirty="0"/>
              <a:t>VERSION</a:t>
            </a:r>
            <a:r>
              <a:rPr lang="en-US" sz="2000" dirty="0"/>
              <a:t>: System started in 1999 for GenBank/EMBL/DDBJ where the accession and version play the same function as the accession and </a:t>
            </a:r>
            <a:r>
              <a:rPr lang="en-US" sz="2000" dirty="0" err="1"/>
              <a:t>gi</a:t>
            </a:r>
            <a:r>
              <a:rPr lang="en-US" sz="2000" dirty="0"/>
              <a:t> number. Format: </a:t>
            </a:r>
            <a:r>
              <a:rPr lang="en-US" sz="2000" dirty="0" err="1"/>
              <a:t>accession.version</a:t>
            </a:r>
            <a:endParaRPr lang="en-US" sz="2000" dirty="0"/>
          </a:p>
          <a:p>
            <a:pPr algn="just"/>
            <a:r>
              <a:rPr lang="en-US" sz="2000" b="1" dirty="0"/>
              <a:t>PID</a:t>
            </a:r>
            <a:r>
              <a:rPr lang="en-US" sz="2000" dirty="0"/>
              <a:t>: Protein Identifier: g, e or d prefix to </a:t>
            </a:r>
            <a:r>
              <a:rPr lang="en-US" sz="2000" dirty="0" err="1"/>
              <a:t>gi</a:t>
            </a:r>
            <a:r>
              <a:rPr lang="en-US" sz="2000" dirty="0"/>
              <a:t> number. Can have one or two on one CDS (coding sequence).</a:t>
            </a:r>
          </a:p>
          <a:p>
            <a:pPr algn="just"/>
            <a:r>
              <a:rPr lang="en-US" sz="2000" b="1" dirty="0"/>
              <a:t>Protein </a:t>
            </a:r>
            <a:r>
              <a:rPr lang="en-US" sz="2000" b="1" dirty="0" err="1"/>
              <a:t>gi</a:t>
            </a:r>
            <a:r>
              <a:rPr lang="en-US" sz="2000" dirty="0"/>
              <a:t>: </a:t>
            </a:r>
            <a:r>
              <a:rPr lang="en-US" sz="2000" dirty="0" err="1"/>
              <a:t>Geninfo</a:t>
            </a:r>
            <a:r>
              <a:rPr lang="en-US" sz="2000" dirty="0"/>
              <a:t> identifier (</a:t>
            </a:r>
            <a:r>
              <a:rPr lang="en-US" sz="2000" dirty="0" err="1"/>
              <a:t>gi</a:t>
            </a:r>
            <a:r>
              <a:rPr lang="en-US" sz="2000" dirty="0"/>
              <a:t>), a GenBank unique integer which will change every time the sequence changes.</a:t>
            </a:r>
          </a:p>
          <a:p>
            <a:pPr algn="just"/>
            <a:r>
              <a:rPr lang="en-US" sz="2000" b="1" dirty="0" err="1"/>
              <a:t>protein_id</a:t>
            </a:r>
            <a:r>
              <a:rPr lang="en-US" sz="2000" dirty="0"/>
              <a:t>: Identifier which has the same structure and function as the nucleotide Accession with version numbers.</a:t>
            </a:r>
            <a:endParaRPr lang="en-IN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3A54F-E5C5-118B-7C55-58962955F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293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D941A-FB0A-5176-69E4-6314335861B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1948" y="223105"/>
            <a:ext cx="7886700" cy="863907"/>
          </a:xfrm>
        </p:spPr>
        <p:txBody>
          <a:bodyPr/>
          <a:lstStyle/>
          <a:p>
            <a:r>
              <a:rPr lang="en-US" dirty="0"/>
              <a:t>LOCUS, Accession, NID, </a:t>
            </a:r>
            <a:r>
              <a:rPr lang="en-US" dirty="0" err="1"/>
              <a:t>gi</a:t>
            </a:r>
            <a:r>
              <a:rPr lang="en-US" dirty="0"/>
              <a:t> and PID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B30C4E-CF87-B411-8FC6-F6E1C4C52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91" y="1323379"/>
            <a:ext cx="6873836" cy="1005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BD184D-397B-13C9-DB86-092D0F895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746" y="2560244"/>
            <a:ext cx="2400508" cy="1737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02586A-0550-C072-621B-B1000AC8A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90" y="4400103"/>
            <a:ext cx="6966699" cy="222560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F7822-F98E-D46F-8B2E-5A925B16A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71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00F9D5-0B34-7774-3140-1162B0D45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80" y="286383"/>
            <a:ext cx="8713232" cy="59177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069E1-B625-4292-0CDC-512361A5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820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0C43B-39A4-6AA6-B4DA-B6DAAA7B0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61F79-4694-71DD-9D89-A24D7F502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D593C0-5DB9-C066-B31F-AE9C80F49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48" y="365126"/>
            <a:ext cx="8855098" cy="594407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4C886-428C-0A79-3AE1-F323E5CC9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12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38C78-6FD8-E3B4-2A3F-A1DB2DF99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Other Sequence (&amp; Annotation) File</a:t>
            </a:r>
            <a:br>
              <a:rPr lang="en-US" dirty="0"/>
            </a:br>
            <a:r>
              <a:rPr lang="en-US" dirty="0"/>
              <a:t>Formats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AE4DC-7434-C869-0523-CCB14FECC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FASTQ – FASTA with quality data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2bit – compressed DNA sequence format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SAM/BAM – Sequence Alignment Mapping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GFF/GTF – General Feature Format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BED/WIG – annotation track data formats (UCSC Genome Browser)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0A74B-FD16-E3DB-695E-A9A9D7625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390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22765-FD80-7990-E391-0B1E625C9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D4F0B-1821-D9AD-61D2-FCCFF5D41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29C878-C472-E42B-0CA2-B5553DCF1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4" y="220222"/>
            <a:ext cx="8222302" cy="639688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CC1F4-18DF-221C-3F5F-ABC649B2D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500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C4692-3480-CBA8-2319-D2D2C785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2bit File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FC821-E1D9-010A-382B-26AD0BF48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Highly compressed sequence file stores multiple DNA sequences (up to 4 Gb total) in a compact randomly-accessible format. The file contains masking information as well as the DNA itself.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http://genome.ucsc.edu/FAQ/FAQformat#format7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02CDA-6180-10B4-C338-327CAFEF6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094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A0A2B-6D53-EF3A-4802-423E56CE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SAM/BAM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4D4DE-91FF-FA51-D8CF-84BCEC005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IN" sz="3800" dirty="0"/>
              <a:t>SAM– a tab-delimited text file that contains a compact and index-able representation of nucleotide sequence alignments</a:t>
            </a:r>
          </a:p>
          <a:p>
            <a:pPr marL="0" indent="0" algn="just">
              <a:buNone/>
            </a:pPr>
            <a:r>
              <a:rPr lang="en-IN" sz="3800" dirty="0"/>
              <a:t>http://samtools.sourceforge.net/SAM1.pdf</a:t>
            </a:r>
          </a:p>
          <a:p>
            <a:pPr marL="0" indent="0" algn="just">
              <a:buNone/>
            </a:pPr>
            <a:r>
              <a:rPr lang="en-IN" sz="3800" dirty="0"/>
              <a:t>http://samtools.sourceforge.net/</a:t>
            </a:r>
          </a:p>
          <a:p>
            <a:pPr marL="0" indent="0" algn="just">
              <a:buNone/>
            </a:pPr>
            <a:endParaRPr lang="en-IN" sz="3800" dirty="0"/>
          </a:p>
          <a:p>
            <a:pPr marL="0" indent="0" algn="just">
              <a:buNone/>
            </a:pPr>
            <a:r>
              <a:rPr lang="en-IN" sz="3800" dirty="0"/>
              <a:t>BAM – binary version of SAM (preferred by IGV)</a:t>
            </a:r>
          </a:p>
          <a:p>
            <a:pPr marL="0" indent="0" algn="just">
              <a:buNone/>
            </a:pPr>
            <a:r>
              <a:rPr lang="en-IN" sz="3800" dirty="0"/>
              <a:t>I/O format of several NGS tools</a:t>
            </a:r>
          </a:p>
          <a:p>
            <a:pPr marL="0" indent="0" algn="just">
              <a:buNone/>
            </a:pPr>
            <a:r>
              <a:rPr lang="en-IN" sz="3800" dirty="0"/>
              <a:t>http://samtools.sourceforge.net/swlist.shtml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See also:</a:t>
            </a:r>
          </a:p>
          <a:p>
            <a:pPr marL="0" indent="0" algn="just">
              <a:buNone/>
            </a:pPr>
            <a:r>
              <a:rPr lang="en-IN" dirty="0"/>
              <a:t>Li H.*, </a:t>
            </a:r>
            <a:r>
              <a:rPr lang="en-IN" dirty="0" err="1"/>
              <a:t>Handsaker</a:t>
            </a:r>
            <a:r>
              <a:rPr lang="en-IN" dirty="0"/>
              <a:t> B.*, </a:t>
            </a:r>
            <a:r>
              <a:rPr lang="en-IN" dirty="0" err="1"/>
              <a:t>Wysoker</a:t>
            </a:r>
            <a:r>
              <a:rPr lang="en-IN" dirty="0"/>
              <a:t> A., Fennell T., Ruan J., Homer N., Marth G., </a:t>
            </a:r>
            <a:r>
              <a:rPr lang="en-IN" dirty="0" err="1"/>
              <a:t>Abecasis</a:t>
            </a:r>
            <a:r>
              <a:rPr lang="en-IN" dirty="0"/>
              <a:t> G., Durbin R. and 1000 Genome Project Data Processing Subgroup (2009) The Sequence alignment/map (SAM) format and </a:t>
            </a:r>
            <a:r>
              <a:rPr lang="en-IN" dirty="0" err="1"/>
              <a:t>SAMtools</a:t>
            </a:r>
            <a:r>
              <a:rPr lang="en-IN" dirty="0"/>
              <a:t>. Bioinformatics, 25, 2078-9.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C20AD-FEC9-9171-72CB-10918BE11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151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1B340-7B6A-7FE5-80CE-CC87241D8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Gene/General/Generic Feature</a:t>
            </a:r>
            <a:br>
              <a:rPr lang="en-IN" dirty="0"/>
            </a:br>
            <a:r>
              <a:rPr lang="en-IN" dirty="0"/>
              <a:t>Formats (GFF)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835DD-59CB-989A-C7D5-9975F497B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072898" cy="4526014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A General Feature Format (GFF) file is a relatively simple tab-delimited text file for describing genomic features. </a:t>
            </a:r>
          </a:p>
          <a:p>
            <a:pPr algn="just"/>
            <a:r>
              <a:rPr lang="en-IN" dirty="0"/>
              <a:t>Many genome browsers – </a:t>
            </a:r>
            <a:r>
              <a:rPr lang="en-IN" dirty="0" err="1"/>
              <a:t>gbrowse</a:t>
            </a:r>
            <a:r>
              <a:rPr lang="en-IN" dirty="0"/>
              <a:t>, IGV, etc. - take GFF as input for annotation data</a:t>
            </a:r>
          </a:p>
          <a:p>
            <a:pPr algn="just"/>
            <a:r>
              <a:rPr lang="en-IN" dirty="0"/>
              <a:t>There are several slightly but significantly different GFF file formats (GFF,GFF2, GFF3, GTF). The current primary standard is GFF3:</a:t>
            </a:r>
          </a:p>
          <a:p>
            <a:r>
              <a:rPr lang="en-IN" sz="2000" dirty="0">
                <a:hlinkClick r:id="rId2"/>
              </a:rPr>
              <a:t>http://www.sequenceontology.org/gff3.shtml</a:t>
            </a:r>
            <a:r>
              <a:rPr lang="en-IN" sz="2000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4238F-87C1-A06D-620C-E5795490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70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C9267-8D1C-2067-D090-953187BE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BED File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55BB5-81B5-2BC6-9557-5B76878E6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BED format provides a flexible way to define the data lines that are displayed in an annotation track in a genome browser.</a:t>
            </a:r>
          </a:p>
          <a:p>
            <a:pPr marL="0" indent="0" algn="just">
              <a:buNone/>
            </a:pPr>
            <a:r>
              <a:rPr lang="en-US" dirty="0">
                <a:hlinkClick r:id="rId2"/>
              </a:rPr>
              <a:t>http://genome.ucsc.edu/FAQ/FAQformat#format1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If your data set is BED-like, but it is very large and you would like to keep it on your own server, you should use the </a:t>
            </a:r>
            <a:r>
              <a:rPr lang="en-US" dirty="0" err="1"/>
              <a:t>bigBed</a:t>
            </a:r>
            <a:r>
              <a:rPr lang="en-US" dirty="0"/>
              <a:t> data format.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91AFB-8207-E21B-8F92-857A45D8F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416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D82752-29DD-32DD-EF13-AC9922EC2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29" y="331201"/>
            <a:ext cx="8093141" cy="619559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C5799-640B-59D0-2C78-AB5E6AF4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133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700AA2-C9E5-4BBE-651F-47D61D44F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11" y="815113"/>
            <a:ext cx="7811177" cy="522777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0FA8C-E68E-6942-4B1E-BAE607A08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8179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74E5E-ACEC-23E7-5285-2F971D55D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A2167-CA7D-4956-AED5-6EC07C785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Flat Files</a:t>
            </a:r>
          </a:p>
          <a:p>
            <a:r>
              <a:rPr lang="en-IN" dirty="0"/>
              <a:t>Many other formats like XML, </a:t>
            </a:r>
            <a:r>
              <a:rPr lang="en-IN" dirty="0" err="1"/>
              <a:t>Clustal</a:t>
            </a:r>
            <a:r>
              <a:rPr lang="en-IN" dirty="0"/>
              <a:t> (for multiple sequence alignments), GFF (Gene-Finding Format, Generic Feature Format) etc…</a:t>
            </a:r>
          </a:p>
          <a:p>
            <a:r>
              <a:rPr lang="en-IN" dirty="0"/>
              <a:t>FASTA – simplest!</a:t>
            </a:r>
          </a:p>
          <a:p>
            <a:r>
              <a:rPr lang="en-IN" dirty="0"/>
              <a:t>High throughput data file formats: BAM/SAM (</a:t>
            </a:r>
            <a:r>
              <a:rPr lang="en-US" dirty="0"/>
              <a:t>BAM is the compressed binary representation of SAM (Sequence Alignment Map))</a:t>
            </a:r>
            <a:r>
              <a:rPr lang="en-IN" dirty="0"/>
              <a:t> etc….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29A26-2E8E-A6ED-CBA2-67E3ADC64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105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9FA5D-E908-F3C4-0232-A4E5A4C44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60" y="97225"/>
            <a:ext cx="8140173" cy="573330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AC827-87E2-4BFA-88AB-FFDF7AB6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934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586E57-A867-F9D3-038B-08EFFEA63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95" y="245806"/>
            <a:ext cx="8367981" cy="54667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979A6-6DA4-E615-72E1-CDF9B1250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6314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B265A2-65FB-425B-93C1-4148DB67C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6" y="310470"/>
            <a:ext cx="7946954" cy="546106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378D0-07E8-AEDC-267B-F9CC06D7F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46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53C480-0F7D-443F-6710-E786867370F5}"/>
              </a:ext>
            </a:extLst>
          </p:cNvPr>
          <p:cNvSpPr txBox="1"/>
          <p:nvPr/>
        </p:nvSpPr>
        <p:spPr>
          <a:xfrm>
            <a:off x="191728" y="129119"/>
            <a:ext cx="87162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Other Sequence Databases and Sequence Data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DD049D-E275-BC30-3531-661401CAD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68" y="590783"/>
            <a:ext cx="7761090" cy="614129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3FBA47-324F-78CB-60CB-07D2CB3A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754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27C04-7F82-B1A9-F703-EF992C775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issues with bioinformatics databases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018A2-FC1A-0322-3821-316A372DC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How public and/or open source should biomolecular data be?</a:t>
            </a:r>
          </a:p>
          <a:p>
            <a:pPr algn="just"/>
            <a:r>
              <a:rPr lang="en-US" dirty="0"/>
              <a:t>How much should researchers be forced to release data as soon as possible?</a:t>
            </a:r>
          </a:p>
          <a:p>
            <a:pPr algn="just"/>
            <a:r>
              <a:rPr lang="en-US" dirty="0"/>
              <a:t>How much analysis of a genome can a researcher publish before the genome sequence is published?</a:t>
            </a:r>
          </a:p>
          <a:p>
            <a:pPr algn="just"/>
            <a:r>
              <a:rPr lang="en-US" dirty="0"/>
              <a:t>How do we best organize the data?</a:t>
            </a:r>
          </a:p>
          <a:p>
            <a:pPr lvl="1" algn="just"/>
            <a:r>
              <a:rPr lang="en-US" dirty="0"/>
              <a:t>BIG issue! i.e. biomolecular pathway classifications can bias analyses of pathways are found to be upregulated or downregulated by gene expression analysis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EE7F6-9BD3-5CCD-5C09-0EFF053F6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6943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CFBF3-3773-65F4-B989-57EF51607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7C4E6-C77E-468C-EADD-102C78D05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IN" dirty="0"/>
              <a:t>http://www.ncbi.nlm.nih.gov/</a:t>
            </a:r>
          </a:p>
          <a:p>
            <a:pPr algn="just"/>
            <a:r>
              <a:rPr lang="en-IN" dirty="0"/>
              <a:t>http://www.ebi.ac.uk/</a:t>
            </a:r>
          </a:p>
          <a:p>
            <a:pPr algn="just"/>
            <a:r>
              <a:rPr lang="en-IN" dirty="0"/>
              <a:t>http://www.expasy.ch/</a:t>
            </a:r>
          </a:p>
          <a:p>
            <a:pPr algn="just"/>
            <a:r>
              <a:rPr lang="en-IN" dirty="0"/>
              <a:t>http://www.ensembl.org/</a:t>
            </a:r>
          </a:p>
          <a:p>
            <a:pPr algn="just"/>
            <a:r>
              <a:rPr lang="en-IN" dirty="0"/>
              <a:t>http://www.rcsb.org/pdb/</a:t>
            </a:r>
          </a:p>
          <a:p>
            <a:pPr algn="just"/>
            <a:r>
              <a:rPr lang="en-IN" dirty="0"/>
              <a:t>http://www.pseudmonas.com/</a:t>
            </a:r>
          </a:p>
          <a:p>
            <a:pPr algn="just"/>
            <a:r>
              <a:rPr lang="en-IN" dirty="0"/>
              <a:t>http://www.wormbase.org/</a:t>
            </a:r>
          </a:p>
          <a:p>
            <a:pPr algn="just"/>
            <a:r>
              <a:rPr lang="en-IN" dirty="0"/>
              <a:t>http://biodas.org/</a:t>
            </a:r>
          </a:p>
          <a:p>
            <a:pPr algn="just"/>
            <a:r>
              <a:rPr lang="en-IN" dirty="0"/>
              <a:t>http://nar.oupjournals.org/</a:t>
            </a:r>
          </a:p>
          <a:p>
            <a:pPr algn="just"/>
            <a:r>
              <a:rPr lang="en-IN" dirty="0"/>
              <a:t>http://www.gmod.org/</a:t>
            </a:r>
          </a:p>
          <a:p>
            <a:pPr algn="just"/>
            <a:r>
              <a:rPr lang="en-IN" dirty="0"/>
              <a:t>http://www.broadinstitute.org/igv/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2CAE7-461A-3EB4-DF8C-6DD8E2C91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42C93-67CC-4400-9500-F2A139709C1A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35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221</TotalTime>
  <Words>1062</Words>
  <Application>Microsoft Office PowerPoint</Application>
  <PresentationFormat>On-screen Show (4:3)</PresentationFormat>
  <Paragraphs>141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Wingdings</vt:lpstr>
      <vt:lpstr>Office Theme</vt:lpstr>
      <vt:lpstr>Bioinformatics  Overview</vt:lpstr>
      <vt:lpstr>Biological Databases</vt:lpstr>
      <vt:lpstr>Database Examples in Bioinformatics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FASTA</vt:lpstr>
      <vt:lpstr>Multiple Fasta Sequences</vt:lpstr>
      <vt:lpstr>PowerPoint Presentation</vt:lpstr>
      <vt:lpstr>LOCUS vs Accession vs PID vs protein_id: What’s the difference?</vt:lpstr>
      <vt:lpstr>LOCUS, Accession, NID, gi and PID</vt:lpstr>
      <vt:lpstr>PowerPoint Presentation</vt:lpstr>
      <vt:lpstr>PowerPoint Presentation</vt:lpstr>
      <vt:lpstr>Other Sequence (&amp; Annotation) File Formats</vt:lpstr>
      <vt:lpstr>PowerPoint Presentation</vt:lpstr>
      <vt:lpstr>2bit File Format</vt:lpstr>
      <vt:lpstr>SAM/BAM</vt:lpstr>
      <vt:lpstr>Gene/General/Generic Feature Formats (GFF)</vt:lpstr>
      <vt:lpstr>BED File Format</vt:lpstr>
      <vt:lpstr>PowerPoint Presentation</vt:lpstr>
      <vt:lpstr>PowerPoint Presentation</vt:lpstr>
      <vt:lpstr>Data Formats</vt:lpstr>
      <vt:lpstr>PowerPoint Presentation</vt:lpstr>
      <vt:lpstr>PowerPoint Presentation</vt:lpstr>
      <vt:lpstr>PowerPoint Presentation</vt:lpstr>
      <vt:lpstr>PowerPoint Presentation</vt:lpstr>
      <vt:lpstr>Ethical issues with bioinformatics databases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bhat</dc:creator>
  <cp:lastModifiedBy>Manoj Bhat K - [ASAI]</cp:lastModifiedBy>
  <cp:revision>8</cp:revision>
  <dcterms:created xsi:type="dcterms:W3CDTF">2024-08-28T04:08:54Z</dcterms:created>
  <dcterms:modified xsi:type="dcterms:W3CDTF">2026-07-23T05:00:55Z</dcterms:modified>
</cp:coreProperties>
</file>