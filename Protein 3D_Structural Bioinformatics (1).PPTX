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56" r:id="rId10"/>
    <p:sldId id="257" r:id="rId11"/>
    <p:sldId id="258" r:id="rId12"/>
    <p:sldId id="296" r:id="rId13"/>
    <p:sldId id="260" r:id="rId14"/>
    <p:sldId id="262" r:id="rId15"/>
    <p:sldId id="261" r:id="rId16"/>
    <p:sldId id="264" r:id="rId17"/>
    <p:sldId id="265" r:id="rId18"/>
    <p:sldId id="266" r:id="rId19"/>
    <p:sldId id="269" r:id="rId20"/>
    <p:sldId id="271" r:id="rId21"/>
    <p:sldId id="270" r:id="rId22"/>
    <p:sldId id="272" r:id="rId23"/>
    <p:sldId id="273" r:id="rId24"/>
    <p:sldId id="276" r:id="rId25"/>
    <p:sldId id="263" r:id="rId26"/>
    <p:sldId id="277" r:id="rId27"/>
    <p:sldId id="279" r:id="rId28"/>
    <p:sldId id="278" r:id="rId29"/>
    <p:sldId id="280" r:id="rId30"/>
    <p:sldId id="281" r:id="rId31"/>
    <p:sldId id="282" r:id="rId32"/>
    <p:sldId id="283" r:id="rId33"/>
    <p:sldId id="284" r:id="rId34"/>
    <p:sldId id="285" r:id="rId35"/>
    <p:sldId id="287" r:id="rId36"/>
    <p:sldId id="286" r:id="rId37"/>
    <p:sldId id="297" r:id="rId38"/>
    <p:sldId id="298" r:id="rId39"/>
    <p:sldId id="299" r:id="rId40"/>
    <p:sldId id="300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281054-E2A4-47ED-9750-26B8C4775785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9391A8-4C73-4924-A850-D8A54DE5FB7B}">
      <dgm:prSet phldrT="[Text]" custT="1"/>
      <dgm:spPr/>
      <dgm:t>
        <a:bodyPr/>
        <a:lstStyle/>
        <a:p>
          <a:r>
            <a:rPr lang="en-US" sz="1600" b="1" dirty="0"/>
            <a:t>Major classification</a:t>
          </a:r>
        </a:p>
      </dgm:t>
    </dgm:pt>
    <dgm:pt modelId="{5C91BCCF-A6E1-4B70-8F30-2799F7385586}" type="parTrans" cxnId="{C7A59B82-03C1-4ED3-B307-0007FBD633E0}">
      <dgm:prSet/>
      <dgm:spPr/>
      <dgm:t>
        <a:bodyPr/>
        <a:lstStyle/>
        <a:p>
          <a:endParaRPr lang="en-US"/>
        </a:p>
      </dgm:t>
    </dgm:pt>
    <dgm:pt modelId="{7E14F643-47D8-42CA-9AAB-9F8ADCABF3B1}" type="sibTrans" cxnId="{C7A59B82-03C1-4ED3-B307-0007FBD633E0}">
      <dgm:prSet/>
      <dgm:spPr/>
      <dgm:t>
        <a:bodyPr/>
        <a:lstStyle/>
        <a:p>
          <a:endParaRPr lang="en-US"/>
        </a:p>
      </dgm:t>
    </dgm:pt>
    <dgm:pt modelId="{415E3174-7E56-4D95-ABBE-072F2E51572E}">
      <dgm:prSet phldrT="[Text]" custT="1"/>
      <dgm:spPr/>
      <dgm:t>
        <a:bodyPr/>
        <a:lstStyle/>
        <a:p>
          <a:r>
            <a:rPr lang="en-US" sz="1600" b="1" dirty="0"/>
            <a:t>Mainly - alpha</a:t>
          </a:r>
        </a:p>
      </dgm:t>
    </dgm:pt>
    <dgm:pt modelId="{D7FB0809-B90E-470D-BB26-90F5BCFD2A43}" type="parTrans" cxnId="{9F52ED28-CE1A-489D-91DD-49519631493F}">
      <dgm:prSet/>
      <dgm:spPr/>
      <dgm:t>
        <a:bodyPr/>
        <a:lstStyle/>
        <a:p>
          <a:endParaRPr lang="en-US"/>
        </a:p>
      </dgm:t>
    </dgm:pt>
    <dgm:pt modelId="{61D1D245-9BC5-4E84-822F-59C51AD5FE24}" type="sibTrans" cxnId="{9F52ED28-CE1A-489D-91DD-49519631493F}">
      <dgm:prSet/>
      <dgm:spPr/>
      <dgm:t>
        <a:bodyPr/>
        <a:lstStyle/>
        <a:p>
          <a:endParaRPr lang="en-US"/>
        </a:p>
      </dgm:t>
    </dgm:pt>
    <dgm:pt modelId="{1422EA7D-37D6-473A-B59B-6168E0E5857C}">
      <dgm:prSet phldrT="[Text]" custT="1"/>
      <dgm:spPr/>
      <dgm:t>
        <a:bodyPr/>
        <a:lstStyle/>
        <a:p>
          <a:r>
            <a:rPr lang="en-US" sz="1600" b="1" dirty="0"/>
            <a:t>Mainly - beta</a:t>
          </a:r>
        </a:p>
      </dgm:t>
    </dgm:pt>
    <dgm:pt modelId="{9D198DD0-39E9-44E6-A99B-5615E222B53E}" type="parTrans" cxnId="{D1BD1335-377B-41AE-87B9-37C5819A8FED}">
      <dgm:prSet/>
      <dgm:spPr/>
      <dgm:t>
        <a:bodyPr/>
        <a:lstStyle/>
        <a:p>
          <a:endParaRPr lang="en-US"/>
        </a:p>
      </dgm:t>
    </dgm:pt>
    <dgm:pt modelId="{E51D0919-1F72-4E5D-B189-E263E4B5D561}" type="sibTrans" cxnId="{D1BD1335-377B-41AE-87B9-37C5819A8FED}">
      <dgm:prSet/>
      <dgm:spPr/>
      <dgm:t>
        <a:bodyPr/>
        <a:lstStyle/>
        <a:p>
          <a:endParaRPr lang="en-US"/>
        </a:p>
      </dgm:t>
    </dgm:pt>
    <dgm:pt modelId="{6DE89CC3-E864-498B-833E-182E6AC40B84}">
      <dgm:prSet phldrT="[Text]" custT="1"/>
      <dgm:spPr/>
      <dgm:t>
        <a:bodyPr/>
        <a:lstStyle/>
        <a:p>
          <a:r>
            <a:rPr lang="en-US" sz="1600" b="1" dirty="0"/>
            <a:t>alpha-beta</a:t>
          </a:r>
        </a:p>
      </dgm:t>
    </dgm:pt>
    <dgm:pt modelId="{9B84D9E1-5B1E-4BB0-BAAB-3E45BA22E048}" type="parTrans" cxnId="{9AD707DA-69C9-4E58-94EA-C58660419ED1}">
      <dgm:prSet/>
      <dgm:spPr/>
      <dgm:t>
        <a:bodyPr/>
        <a:lstStyle/>
        <a:p>
          <a:endParaRPr lang="en-US"/>
        </a:p>
      </dgm:t>
    </dgm:pt>
    <dgm:pt modelId="{4B3D3046-41F5-4DB4-B3D6-109F78E3836B}" type="sibTrans" cxnId="{9AD707DA-69C9-4E58-94EA-C58660419ED1}">
      <dgm:prSet/>
      <dgm:spPr/>
      <dgm:t>
        <a:bodyPr/>
        <a:lstStyle/>
        <a:p>
          <a:endParaRPr lang="en-US"/>
        </a:p>
      </dgm:t>
    </dgm:pt>
    <dgm:pt modelId="{F8A5887C-3B2F-4A71-A648-FF80B400D177}" type="pres">
      <dgm:prSet presAssocID="{1A281054-E2A4-47ED-9750-26B8C477578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04C3811-10CE-4703-BFAB-19DC8F362375}" type="pres">
      <dgm:prSet presAssocID="{F69391A8-4C73-4924-A850-D8A54DE5FB7B}" presName="hierRoot1" presStyleCnt="0">
        <dgm:presLayoutVars>
          <dgm:hierBranch val="init"/>
        </dgm:presLayoutVars>
      </dgm:prSet>
      <dgm:spPr/>
    </dgm:pt>
    <dgm:pt modelId="{CDBF6C0C-BD45-4630-9678-A2EED6436205}" type="pres">
      <dgm:prSet presAssocID="{F69391A8-4C73-4924-A850-D8A54DE5FB7B}" presName="rootComposite1" presStyleCnt="0"/>
      <dgm:spPr/>
    </dgm:pt>
    <dgm:pt modelId="{4AACD8E0-BFC9-43A2-BB27-434B7CEC6125}" type="pres">
      <dgm:prSet presAssocID="{F69391A8-4C73-4924-A850-D8A54DE5FB7B}" presName="rootText1" presStyleLbl="node0" presStyleIdx="0" presStyleCnt="1">
        <dgm:presLayoutVars>
          <dgm:chPref val="3"/>
        </dgm:presLayoutVars>
      </dgm:prSet>
      <dgm:spPr/>
    </dgm:pt>
    <dgm:pt modelId="{1ADFF103-822D-438A-B282-826885E1AC9F}" type="pres">
      <dgm:prSet presAssocID="{F69391A8-4C73-4924-A850-D8A54DE5FB7B}" presName="rootConnector1" presStyleLbl="node1" presStyleIdx="0" presStyleCnt="0"/>
      <dgm:spPr/>
    </dgm:pt>
    <dgm:pt modelId="{4C1EE0C3-3424-47C3-996E-EC6EB7F4A47B}" type="pres">
      <dgm:prSet presAssocID="{F69391A8-4C73-4924-A850-D8A54DE5FB7B}" presName="hierChild2" presStyleCnt="0"/>
      <dgm:spPr/>
    </dgm:pt>
    <dgm:pt modelId="{83D02FFD-8661-43FF-9730-FFFF522C9FF5}" type="pres">
      <dgm:prSet presAssocID="{D7FB0809-B90E-470D-BB26-90F5BCFD2A43}" presName="Name64" presStyleLbl="parChTrans1D2" presStyleIdx="0" presStyleCnt="3"/>
      <dgm:spPr/>
    </dgm:pt>
    <dgm:pt modelId="{240D51EC-D54D-4407-ACEE-55ACA6083880}" type="pres">
      <dgm:prSet presAssocID="{415E3174-7E56-4D95-ABBE-072F2E51572E}" presName="hierRoot2" presStyleCnt="0">
        <dgm:presLayoutVars>
          <dgm:hierBranch val="init"/>
        </dgm:presLayoutVars>
      </dgm:prSet>
      <dgm:spPr/>
    </dgm:pt>
    <dgm:pt modelId="{6CBB8198-AA32-4404-9229-966CF27656F8}" type="pres">
      <dgm:prSet presAssocID="{415E3174-7E56-4D95-ABBE-072F2E51572E}" presName="rootComposite" presStyleCnt="0"/>
      <dgm:spPr/>
    </dgm:pt>
    <dgm:pt modelId="{A978B28D-1257-4B57-90BF-C63A316ACBB1}" type="pres">
      <dgm:prSet presAssocID="{415E3174-7E56-4D95-ABBE-072F2E51572E}" presName="rootText" presStyleLbl="node2" presStyleIdx="0" presStyleCnt="3">
        <dgm:presLayoutVars>
          <dgm:chPref val="3"/>
        </dgm:presLayoutVars>
      </dgm:prSet>
      <dgm:spPr/>
    </dgm:pt>
    <dgm:pt modelId="{1D875E13-D6EF-4577-8E3A-755995CF4165}" type="pres">
      <dgm:prSet presAssocID="{415E3174-7E56-4D95-ABBE-072F2E51572E}" presName="rootConnector" presStyleLbl="node2" presStyleIdx="0" presStyleCnt="3"/>
      <dgm:spPr/>
    </dgm:pt>
    <dgm:pt modelId="{0AEEF1AA-D3A3-494E-A95A-E2858E5DA2F6}" type="pres">
      <dgm:prSet presAssocID="{415E3174-7E56-4D95-ABBE-072F2E51572E}" presName="hierChild4" presStyleCnt="0"/>
      <dgm:spPr/>
    </dgm:pt>
    <dgm:pt modelId="{B046EF1A-3629-4F28-9B63-2E6A74031FE1}" type="pres">
      <dgm:prSet presAssocID="{415E3174-7E56-4D95-ABBE-072F2E51572E}" presName="hierChild5" presStyleCnt="0"/>
      <dgm:spPr/>
    </dgm:pt>
    <dgm:pt modelId="{98C938B4-F1D6-4AD2-B2B5-AF35A3428B68}" type="pres">
      <dgm:prSet presAssocID="{9D198DD0-39E9-44E6-A99B-5615E222B53E}" presName="Name64" presStyleLbl="parChTrans1D2" presStyleIdx="1" presStyleCnt="3"/>
      <dgm:spPr/>
    </dgm:pt>
    <dgm:pt modelId="{3E048BB6-830A-4F43-9A62-D49F327F54E4}" type="pres">
      <dgm:prSet presAssocID="{1422EA7D-37D6-473A-B59B-6168E0E5857C}" presName="hierRoot2" presStyleCnt="0">
        <dgm:presLayoutVars>
          <dgm:hierBranch val="init"/>
        </dgm:presLayoutVars>
      </dgm:prSet>
      <dgm:spPr/>
    </dgm:pt>
    <dgm:pt modelId="{5B58CF2E-F663-43CC-8BDF-22FDB9A0E0A9}" type="pres">
      <dgm:prSet presAssocID="{1422EA7D-37D6-473A-B59B-6168E0E5857C}" presName="rootComposite" presStyleCnt="0"/>
      <dgm:spPr/>
    </dgm:pt>
    <dgm:pt modelId="{18E864FB-9B31-4CCD-8511-8A58A8DF2AAA}" type="pres">
      <dgm:prSet presAssocID="{1422EA7D-37D6-473A-B59B-6168E0E5857C}" presName="rootText" presStyleLbl="node2" presStyleIdx="1" presStyleCnt="3">
        <dgm:presLayoutVars>
          <dgm:chPref val="3"/>
        </dgm:presLayoutVars>
      </dgm:prSet>
      <dgm:spPr/>
    </dgm:pt>
    <dgm:pt modelId="{3ADF6015-8468-4E9B-8C51-C0F899149B49}" type="pres">
      <dgm:prSet presAssocID="{1422EA7D-37D6-473A-B59B-6168E0E5857C}" presName="rootConnector" presStyleLbl="node2" presStyleIdx="1" presStyleCnt="3"/>
      <dgm:spPr/>
    </dgm:pt>
    <dgm:pt modelId="{9656A4E6-E5FA-4DA6-B2E0-B01E736FB5C0}" type="pres">
      <dgm:prSet presAssocID="{1422EA7D-37D6-473A-B59B-6168E0E5857C}" presName="hierChild4" presStyleCnt="0"/>
      <dgm:spPr/>
    </dgm:pt>
    <dgm:pt modelId="{04DE41E8-58FD-4040-8730-CA33196B0036}" type="pres">
      <dgm:prSet presAssocID="{1422EA7D-37D6-473A-B59B-6168E0E5857C}" presName="hierChild5" presStyleCnt="0"/>
      <dgm:spPr/>
    </dgm:pt>
    <dgm:pt modelId="{7A14E23E-1DB4-4AC9-91D4-D2806BE8992F}" type="pres">
      <dgm:prSet presAssocID="{9B84D9E1-5B1E-4BB0-BAAB-3E45BA22E048}" presName="Name64" presStyleLbl="parChTrans1D2" presStyleIdx="2" presStyleCnt="3"/>
      <dgm:spPr/>
    </dgm:pt>
    <dgm:pt modelId="{3A94C3B0-B82B-4BD8-9622-C494ABF827F4}" type="pres">
      <dgm:prSet presAssocID="{6DE89CC3-E864-498B-833E-182E6AC40B84}" presName="hierRoot2" presStyleCnt="0">
        <dgm:presLayoutVars>
          <dgm:hierBranch val="init"/>
        </dgm:presLayoutVars>
      </dgm:prSet>
      <dgm:spPr/>
    </dgm:pt>
    <dgm:pt modelId="{6DDB14E0-8D14-4A7C-9262-388969DB0468}" type="pres">
      <dgm:prSet presAssocID="{6DE89CC3-E864-498B-833E-182E6AC40B84}" presName="rootComposite" presStyleCnt="0"/>
      <dgm:spPr/>
    </dgm:pt>
    <dgm:pt modelId="{4368D984-8597-40EC-8E54-247EC5508016}" type="pres">
      <dgm:prSet presAssocID="{6DE89CC3-E864-498B-833E-182E6AC40B84}" presName="rootText" presStyleLbl="node2" presStyleIdx="2" presStyleCnt="3">
        <dgm:presLayoutVars>
          <dgm:chPref val="3"/>
        </dgm:presLayoutVars>
      </dgm:prSet>
      <dgm:spPr/>
    </dgm:pt>
    <dgm:pt modelId="{4EE1121E-AA0A-462D-9F00-786F74F10608}" type="pres">
      <dgm:prSet presAssocID="{6DE89CC3-E864-498B-833E-182E6AC40B84}" presName="rootConnector" presStyleLbl="node2" presStyleIdx="2" presStyleCnt="3"/>
      <dgm:spPr/>
    </dgm:pt>
    <dgm:pt modelId="{8F3EE651-94C9-4CB2-9AE3-2F667F3E8C11}" type="pres">
      <dgm:prSet presAssocID="{6DE89CC3-E864-498B-833E-182E6AC40B84}" presName="hierChild4" presStyleCnt="0"/>
      <dgm:spPr/>
    </dgm:pt>
    <dgm:pt modelId="{72C0D00A-8F49-4E47-A136-DA3C3E0B3DC8}" type="pres">
      <dgm:prSet presAssocID="{6DE89CC3-E864-498B-833E-182E6AC40B84}" presName="hierChild5" presStyleCnt="0"/>
      <dgm:spPr/>
    </dgm:pt>
    <dgm:pt modelId="{2C15259E-15F6-4F97-B299-871B2CEDDF15}" type="pres">
      <dgm:prSet presAssocID="{F69391A8-4C73-4924-A850-D8A54DE5FB7B}" presName="hierChild3" presStyleCnt="0"/>
      <dgm:spPr/>
    </dgm:pt>
  </dgm:ptLst>
  <dgm:cxnLst>
    <dgm:cxn modelId="{9F5D4B24-E4CD-4F8C-8AF0-6DD12D64552D}" type="presOf" srcId="{D7FB0809-B90E-470D-BB26-90F5BCFD2A43}" destId="{83D02FFD-8661-43FF-9730-FFFF522C9FF5}" srcOrd="0" destOrd="0" presId="urn:microsoft.com/office/officeart/2009/3/layout/HorizontalOrganizationChart"/>
    <dgm:cxn modelId="{9F52ED28-CE1A-489D-91DD-49519631493F}" srcId="{F69391A8-4C73-4924-A850-D8A54DE5FB7B}" destId="{415E3174-7E56-4D95-ABBE-072F2E51572E}" srcOrd="0" destOrd="0" parTransId="{D7FB0809-B90E-470D-BB26-90F5BCFD2A43}" sibTransId="{61D1D245-9BC5-4E84-822F-59C51AD5FE24}"/>
    <dgm:cxn modelId="{1756C32C-7DB3-406A-946D-A8B1169AE953}" type="presOf" srcId="{1422EA7D-37D6-473A-B59B-6168E0E5857C}" destId="{18E864FB-9B31-4CCD-8511-8A58A8DF2AAA}" srcOrd="0" destOrd="0" presId="urn:microsoft.com/office/officeart/2009/3/layout/HorizontalOrganizationChart"/>
    <dgm:cxn modelId="{D1BD1335-377B-41AE-87B9-37C5819A8FED}" srcId="{F69391A8-4C73-4924-A850-D8A54DE5FB7B}" destId="{1422EA7D-37D6-473A-B59B-6168E0E5857C}" srcOrd="1" destOrd="0" parTransId="{9D198DD0-39E9-44E6-A99B-5615E222B53E}" sibTransId="{E51D0919-1F72-4E5D-B189-E263E4B5D561}"/>
    <dgm:cxn modelId="{32758163-534B-4220-A008-5FE69AFB6D04}" type="presOf" srcId="{9B84D9E1-5B1E-4BB0-BAAB-3E45BA22E048}" destId="{7A14E23E-1DB4-4AC9-91D4-D2806BE8992F}" srcOrd="0" destOrd="0" presId="urn:microsoft.com/office/officeart/2009/3/layout/HorizontalOrganizationChart"/>
    <dgm:cxn modelId="{7330267F-7196-444A-849A-E6BF89E9C990}" type="presOf" srcId="{F69391A8-4C73-4924-A850-D8A54DE5FB7B}" destId="{4AACD8E0-BFC9-43A2-BB27-434B7CEC6125}" srcOrd="0" destOrd="0" presId="urn:microsoft.com/office/officeart/2009/3/layout/HorizontalOrganizationChart"/>
    <dgm:cxn modelId="{C7A59B82-03C1-4ED3-B307-0007FBD633E0}" srcId="{1A281054-E2A4-47ED-9750-26B8C4775785}" destId="{F69391A8-4C73-4924-A850-D8A54DE5FB7B}" srcOrd="0" destOrd="0" parTransId="{5C91BCCF-A6E1-4B70-8F30-2799F7385586}" sibTransId="{7E14F643-47D8-42CA-9AAB-9F8ADCABF3B1}"/>
    <dgm:cxn modelId="{83CFD491-68F0-4E1C-BB03-0B7957693B0A}" type="presOf" srcId="{415E3174-7E56-4D95-ABBE-072F2E51572E}" destId="{A978B28D-1257-4B57-90BF-C63A316ACBB1}" srcOrd="0" destOrd="0" presId="urn:microsoft.com/office/officeart/2009/3/layout/HorizontalOrganizationChart"/>
    <dgm:cxn modelId="{A2DFF5AC-1760-4011-9C3F-5898F11ADE06}" type="presOf" srcId="{9D198DD0-39E9-44E6-A99B-5615E222B53E}" destId="{98C938B4-F1D6-4AD2-B2B5-AF35A3428B68}" srcOrd="0" destOrd="0" presId="urn:microsoft.com/office/officeart/2009/3/layout/HorizontalOrganizationChart"/>
    <dgm:cxn modelId="{58419DB2-3100-469C-9D83-5F3965962C37}" type="presOf" srcId="{F69391A8-4C73-4924-A850-D8A54DE5FB7B}" destId="{1ADFF103-822D-438A-B282-826885E1AC9F}" srcOrd="1" destOrd="0" presId="urn:microsoft.com/office/officeart/2009/3/layout/HorizontalOrganizationChart"/>
    <dgm:cxn modelId="{EB6B5EB7-D392-45D7-BB30-6BBE6E38E968}" type="presOf" srcId="{6DE89CC3-E864-498B-833E-182E6AC40B84}" destId="{4EE1121E-AA0A-462D-9F00-786F74F10608}" srcOrd="1" destOrd="0" presId="urn:microsoft.com/office/officeart/2009/3/layout/HorizontalOrganizationChart"/>
    <dgm:cxn modelId="{A8C17EC1-7625-4814-B151-8729F74F052D}" type="presOf" srcId="{415E3174-7E56-4D95-ABBE-072F2E51572E}" destId="{1D875E13-D6EF-4577-8E3A-755995CF4165}" srcOrd="1" destOrd="0" presId="urn:microsoft.com/office/officeart/2009/3/layout/HorizontalOrganizationChart"/>
    <dgm:cxn modelId="{9AD707DA-69C9-4E58-94EA-C58660419ED1}" srcId="{F69391A8-4C73-4924-A850-D8A54DE5FB7B}" destId="{6DE89CC3-E864-498B-833E-182E6AC40B84}" srcOrd="2" destOrd="0" parTransId="{9B84D9E1-5B1E-4BB0-BAAB-3E45BA22E048}" sibTransId="{4B3D3046-41F5-4DB4-B3D6-109F78E3836B}"/>
    <dgm:cxn modelId="{8D1983ED-F3A8-49EC-976E-1A006B2E6811}" type="presOf" srcId="{1A281054-E2A4-47ED-9750-26B8C4775785}" destId="{F8A5887C-3B2F-4A71-A648-FF80B400D177}" srcOrd="0" destOrd="0" presId="urn:microsoft.com/office/officeart/2009/3/layout/HorizontalOrganizationChart"/>
    <dgm:cxn modelId="{9F333CFD-3883-4CCF-8382-7DC7E11C55AC}" type="presOf" srcId="{1422EA7D-37D6-473A-B59B-6168E0E5857C}" destId="{3ADF6015-8468-4E9B-8C51-C0F899149B49}" srcOrd="1" destOrd="0" presId="urn:microsoft.com/office/officeart/2009/3/layout/HorizontalOrganizationChart"/>
    <dgm:cxn modelId="{97A4A8FE-8A63-4485-8D0A-D45708D95417}" type="presOf" srcId="{6DE89CC3-E864-498B-833E-182E6AC40B84}" destId="{4368D984-8597-40EC-8E54-247EC5508016}" srcOrd="0" destOrd="0" presId="urn:microsoft.com/office/officeart/2009/3/layout/HorizontalOrganizationChart"/>
    <dgm:cxn modelId="{DA12D780-4B0A-4D59-9786-232955A5B9E2}" type="presParOf" srcId="{F8A5887C-3B2F-4A71-A648-FF80B400D177}" destId="{004C3811-10CE-4703-BFAB-19DC8F362375}" srcOrd="0" destOrd="0" presId="urn:microsoft.com/office/officeart/2009/3/layout/HorizontalOrganizationChart"/>
    <dgm:cxn modelId="{5A7CB7F1-8358-4DC5-94EA-6CBD1A778831}" type="presParOf" srcId="{004C3811-10CE-4703-BFAB-19DC8F362375}" destId="{CDBF6C0C-BD45-4630-9678-A2EED6436205}" srcOrd="0" destOrd="0" presId="urn:microsoft.com/office/officeart/2009/3/layout/HorizontalOrganizationChart"/>
    <dgm:cxn modelId="{CC129096-21ED-4D30-AD5A-8430B0D95E88}" type="presParOf" srcId="{CDBF6C0C-BD45-4630-9678-A2EED6436205}" destId="{4AACD8E0-BFC9-43A2-BB27-434B7CEC6125}" srcOrd="0" destOrd="0" presId="urn:microsoft.com/office/officeart/2009/3/layout/HorizontalOrganizationChart"/>
    <dgm:cxn modelId="{1B7D0237-1817-4238-B829-DA72A6DB02A3}" type="presParOf" srcId="{CDBF6C0C-BD45-4630-9678-A2EED6436205}" destId="{1ADFF103-822D-438A-B282-826885E1AC9F}" srcOrd="1" destOrd="0" presId="urn:microsoft.com/office/officeart/2009/3/layout/HorizontalOrganizationChart"/>
    <dgm:cxn modelId="{A22EFEAA-26FF-42A3-BEF6-147A6E054921}" type="presParOf" srcId="{004C3811-10CE-4703-BFAB-19DC8F362375}" destId="{4C1EE0C3-3424-47C3-996E-EC6EB7F4A47B}" srcOrd="1" destOrd="0" presId="urn:microsoft.com/office/officeart/2009/3/layout/HorizontalOrganizationChart"/>
    <dgm:cxn modelId="{01FA4CFF-3DDE-4597-A268-530A267E68C8}" type="presParOf" srcId="{4C1EE0C3-3424-47C3-996E-EC6EB7F4A47B}" destId="{83D02FFD-8661-43FF-9730-FFFF522C9FF5}" srcOrd="0" destOrd="0" presId="urn:microsoft.com/office/officeart/2009/3/layout/HorizontalOrganizationChart"/>
    <dgm:cxn modelId="{093A7246-64CC-49A4-9D06-7618BE358996}" type="presParOf" srcId="{4C1EE0C3-3424-47C3-996E-EC6EB7F4A47B}" destId="{240D51EC-D54D-4407-ACEE-55ACA6083880}" srcOrd="1" destOrd="0" presId="urn:microsoft.com/office/officeart/2009/3/layout/HorizontalOrganizationChart"/>
    <dgm:cxn modelId="{BB83BFD4-6179-46D2-950B-6126B2267273}" type="presParOf" srcId="{240D51EC-D54D-4407-ACEE-55ACA6083880}" destId="{6CBB8198-AA32-4404-9229-966CF27656F8}" srcOrd="0" destOrd="0" presId="urn:microsoft.com/office/officeart/2009/3/layout/HorizontalOrganizationChart"/>
    <dgm:cxn modelId="{48E630CF-58D7-40D8-959D-3D74FE8D37C1}" type="presParOf" srcId="{6CBB8198-AA32-4404-9229-966CF27656F8}" destId="{A978B28D-1257-4B57-90BF-C63A316ACBB1}" srcOrd="0" destOrd="0" presId="urn:microsoft.com/office/officeart/2009/3/layout/HorizontalOrganizationChart"/>
    <dgm:cxn modelId="{B7740B95-AB9F-4DFB-9E69-47D49B9E9747}" type="presParOf" srcId="{6CBB8198-AA32-4404-9229-966CF27656F8}" destId="{1D875E13-D6EF-4577-8E3A-755995CF4165}" srcOrd="1" destOrd="0" presId="urn:microsoft.com/office/officeart/2009/3/layout/HorizontalOrganizationChart"/>
    <dgm:cxn modelId="{1E7B7384-B892-42EA-B7E9-E87DE11C3C19}" type="presParOf" srcId="{240D51EC-D54D-4407-ACEE-55ACA6083880}" destId="{0AEEF1AA-D3A3-494E-A95A-E2858E5DA2F6}" srcOrd="1" destOrd="0" presId="urn:microsoft.com/office/officeart/2009/3/layout/HorizontalOrganizationChart"/>
    <dgm:cxn modelId="{CFF3CB6D-FB60-4266-A2DD-435EEBF3731E}" type="presParOf" srcId="{240D51EC-D54D-4407-ACEE-55ACA6083880}" destId="{B046EF1A-3629-4F28-9B63-2E6A74031FE1}" srcOrd="2" destOrd="0" presId="urn:microsoft.com/office/officeart/2009/3/layout/HorizontalOrganizationChart"/>
    <dgm:cxn modelId="{D876E1AE-E251-4064-AE36-C08CB01668F1}" type="presParOf" srcId="{4C1EE0C3-3424-47C3-996E-EC6EB7F4A47B}" destId="{98C938B4-F1D6-4AD2-B2B5-AF35A3428B68}" srcOrd="2" destOrd="0" presId="urn:microsoft.com/office/officeart/2009/3/layout/HorizontalOrganizationChart"/>
    <dgm:cxn modelId="{EAD97276-8263-4845-AF64-4DD3BA6E77E9}" type="presParOf" srcId="{4C1EE0C3-3424-47C3-996E-EC6EB7F4A47B}" destId="{3E048BB6-830A-4F43-9A62-D49F327F54E4}" srcOrd="3" destOrd="0" presId="urn:microsoft.com/office/officeart/2009/3/layout/HorizontalOrganizationChart"/>
    <dgm:cxn modelId="{88A3A7C3-B474-4D44-9FA0-0D8EE54B3F18}" type="presParOf" srcId="{3E048BB6-830A-4F43-9A62-D49F327F54E4}" destId="{5B58CF2E-F663-43CC-8BDF-22FDB9A0E0A9}" srcOrd="0" destOrd="0" presId="urn:microsoft.com/office/officeart/2009/3/layout/HorizontalOrganizationChart"/>
    <dgm:cxn modelId="{C7F1FB70-FDB6-473A-948B-F46EB7E8F1F5}" type="presParOf" srcId="{5B58CF2E-F663-43CC-8BDF-22FDB9A0E0A9}" destId="{18E864FB-9B31-4CCD-8511-8A58A8DF2AAA}" srcOrd="0" destOrd="0" presId="urn:microsoft.com/office/officeart/2009/3/layout/HorizontalOrganizationChart"/>
    <dgm:cxn modelId="{51F29853-D00D-4FEA-8A31-40641D010743}" type="presParOf" srcId="{5B58CF2E-F663-43CC-8BDF-22FDB9A0E0A9}" destId="{3ADF6015-8468-4E9B-8C51-C0F899149B49}" srcOrd="1" destOrd="0" presId="urn:microsoft.com/office/officeart/2009/3/layout/HorizontalOrganizationChart"/>
    <dgm:cxn modelId="{820C3A66-2C19-4C9C-BE0A-E307D3B72C5E}" type="presParOf" srcId="{3E048BB6-830A-4F43-9A62-D49F327F54E4}" destId="{9656A4E6-E5FA-4DA6-B2E0-B01E736FB5C0}" srcOrd="1" destOrd="0" presId="urn:microsoft.com/office/officeart/2009/3/layout/HorizontalOrganizationChart"/>
    <dgm:cxn modelId="{91DF8458-7EBA-421E-B3BE-464C66CAB364}" type="presParOf" srcId="{3E048BB6-830A-4F43-9A62-D49F327F54E4}" destId="{04DE41E8-58FD-4040-8730-CA33196B0036}" srcOrd="2" destOrd="0" presId="urn:microsoft.com/office/officeart/2009/3/layout/HorizontalOrganizationChart"/>
    <dgm:cxn modelId="{76F88DEC-8CDA-4DB4-B8A0-D4082A49B1C5}" type="presParOf" srcId="{4C1EE0C3-3424-47C3-996E-EC6EB7F4A47B}" destId="{7A14E23E-1DB4-4AC9-91D4-D2806BE8992F}" srcOrd="4" destOrd="0" presId="urn:microsoft.com/office/officeart/2009/3/layout/HorizontalOrganizationChart"/>
    <dgm:cxn modelId="{B9160F66-1270-4820-8C55-43CB61DCFD71}" type="presParOf" srcId="{4C1EE0C3-3424-47C3-996E-EC6EB7F4A47B}" destId="{3A94C3B0-B82B-4BD8-9622-C494ABF827F4}" srcOrd="5" destOrd="0" presId="urn:microsoft.com/office/officeart/2009/3/layout/HorizontalOrganizationChart"/>
    <dgm:cxn modelId="{FA823932-7972-4D14-95D0-B8836BE6CCF3}" type="presParOf" srcId="{3A94C3B0-B82B-4BD8-9622-C494ABF827F4}" destId="{6DDB14E0-8D14-4A7C-9262-388969DB0468}" srcOrd="0" destOrd="0" presId="urn:microsoft.com/office/officeart/2009/3/layout/HorizontalOrganizationChart"/>
    <dgm:cxn modelId="{3D5AEB7F-4DD1-4389-8F92-16626E81F436}" type="presParOf" srcId="{6DDB14E0-8D14-4A7C-9262-388969DB0468}" destId="{4368D984-8597-40EC-8E54-247EC5508016}" srcOrd="0" destOrd="0" presId="urn:microsoft.com/office/officeart/2009/3/layout/HorizontalOrganizationChart"/>
    <dgm:cxn modelId="{36DCF434-647D-4C42-9D29-3E667366985F}" type="presParOf" srcId="{6DDB14E0-8D14-4A7C-9262-388969DB0468}" destId="{4EE1121E-AA0A-462D-9F00-786F74F10608}" srcOrd="1" destOrd="0" presId="urn:microsoft.com/office/officeart/2009/3/layout/HorizontalOrganizationChart"/>
    <dgm:cxn modelId="{0A493FEC-3A51-4D31-85BA-3BD67E784BFC}" type="presParOf" srcId="{3A94C3B0-B82B-4BD8-9622-C494ABF827F4}" destId="{8F3EE651-94C9-4CB2-9AE3-2F667F3E8C11}" srcOrd="1" destOrd="0" presId="urn:microsoft.com/office/officeart/2009/3/layout/HorizontalOrganizationChart"/>
    <dgm:cxn modelId="{08E8CDD1-DACF-452A-8B38-F80F95E95D01}" type="presParOf" srcId="{3A94C3B0-B82B-4BD8-9622-C494ABF827F4}" destId="{72C0D00A-8F49-4E47-A136-DA3C3E0B3DC8}" srcOrd="2" destOrd="0" presId="urn:microsoft.com/office/officeart/2009/3/layout/HorizontalOrganizationChart"/>
    <dgm:cxn modelId="{2900E7BB-9123-407B-9770-F1B8849BB32F}" type="presParOf" srcId="{004C3811-10CE-4703-BFAB-19DC8F362375}" destId="{2C15259E-15F6-4F97-B299-871B2CEDDF1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4E23E-1DB4-4AC9-91D4-D2806BE8992F}">
      <dsp:nvSpPr>
        <dsp:cNvPr id="0" name=""/>
        <dsp:cNvSpPr/>
      </dsp:nvSpPr>
      <dsp:spPr>
        <a:xfrm>
          <a:off x="1988278" y="972355"/>
          <a:ext cx="333571" cy="7171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6785" y="0"/>
              </a:lnTo>
              <a:lnTo>
                <a:pt x="166785" y="717179"/>
              </a:lnTo>
              <a:lnTo>
                <a:pt x="333571" y="7171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C938B4-F1D6-4AD2-B2B5-AF35A3428B68}">
      <dsp:nvSpPr>
        <dsp:cNvPr id="0" name=""/>
        <dsp:cNvSpPr/>
      </dsp:nvSpPr>
      <dsp:spPr>
        <a:xfrm>
          <a:off x="1988278" y="926635"/>
          <a:ext cx="3335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3571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02FFD-8661-43FF-9730-FFFF522C9FF5}">
      <dsp:nvSpPr>
        <dsp:cNvPr id="0" name=""/>
        <dsp:cNvSpPr/>
      </dsp:nvSpPr>
      <dsp:spPr>
        <a:xfrm>
          <a:off x="1988278" y="255175"/>
          <a:ext cx="333571" cy="717179"/>
        </a:xfrm>
        <a:custGeom>
          <a:avLst/>
          <a:gdLst/>
          <a:ahLst/>
          <a:cxnLst/>
          <a:rect l="0" t="0" r="0" b="0"/>
          <a:pathLst>
            <a:path>
              <a:moveTo>
                <a:pt x="0" y="717179"/>
              </a:moveTo>
              <a:lnTo>
                <a:pt x="166785" y="717179"/>
              </a:lnTo>
              <a:lnTo>
                <a:pt x="166785" y="0"/>
              </a:lnTo>
              <a:lnTo>
                <a:pt x="33357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CD8E0-BFC9-43A2-BB27-434B7CEC6125}">
      <dsp:nvSpPr>
        <dsp:cNvPr id="0" name=""/>
        <dsp:cNvSpPr/>
      </dsp:nvSpPr>
      <dsp:spPr>
        <a:xfrm>
          <a:off x="320418" y="718006"/>
          <a:ext cx="1667859" cy="508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Major classification</a:t>
          </a:r>
        </a:p>
      </dsp:txBody>
      <dsp:txXfrm>
        <a:off x="320418" y="718006"/>
        <a:ext cx="1667859" cy="508697"/>
      </dsp:txXfrm>
    </dsp:sp>
    <dsp:sp modelId="{A978B28D-1257-4B57-90BF-C63A316ACBB1}">
      <dsp:nvSpPr>
        <dsp:cNvPr id="0" name=""/>
        <dsp:cNvSpPr/>
      </dsp:nvSpPr>
      <dsp:spPr>
        <a:xfrm>
          <a:off x="2321849" y="826"/>
          <a:ext cx="1667859" cy="508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Mainly - alpha</a:t>
          </a:r>
        </a:p>
      </dsp:txBody>
      <dsp:txXfrm>
        <a:off x="2321849" y="826"/>
        <a:ext cx="1667859" cy="508697"/>
      </dsp:txXfrm>
    </dsp:sp>
    <dsp:sp modelId="{18E864FB-9B31-4CCD-8511-8A58A8DF2AAA}">
      <dsp:nvSpPr>
        <dsp:cNvPr id="0" name=""/>
        <dsp:cNvSpPr/>
      </dsp:nvSpPr>
      <dsp:spPr>
        <a:xfrm>
          <a:off x="2321849" y="718006"/>
          <a:ext cx="1667859" cy="508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Mainly - beta</a:t>
          </a:r>
        </a:p>
      </dsp:txBody>
      <dsp:txXfrm>
        <a:off x="2321849" y="718006"/>
        <a:ext cx="1667859" cy="508697"/>
      </dsp:txXfrm>
    </dsp:sp>
    <dsp:sp modelId="{4368D984-8597-40EC-8E54-247EC5508016}">
      <dsp:nvSpPr>
        <dsp:cNvPr id="0" name=""/>
        <dsp:cNvSpPr/>
      </dsp:nvSpPr>
      <dsp:spPr>
        <a:xfrm>
          <a:off x="2321849" y="1435186"/>
          <a:ext cx="1667859" cy="508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alpha-beta</a:t>
          </a:r>
        </a:p>
      </dsp:txBody>
      <dsp:txXfrm>
        <a:off x="2321849" y="1435186"/>
        <a:ext cx="1667859" cy="508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5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3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2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4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6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3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07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0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8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2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5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5D7C-C0F7-4A4D-A86F-06EC76FA878E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8A62B-B0DA-4251-A14A-62DFC8D9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10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wpdb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710942"/>
            <a:ext cx="7772400" cy="937665"/>
          </a:xfrm>
        </p:spPr>
        <p:txBody>
          <a:bodyPr/>
          <a:lstStyle/>
          <a:p>
            <a:r>
              <a:rPr lang="en-US" dirty="0"/>
              <a:t>Structural Bioinformatics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63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422" y="81347"/>
            <a:ext cx="7886700" cy="696419"/>
          </a:xfrm>
        </p:spPr>
        <p:txBody>
          <a:bodyPr/>
          <a:lstStyle/>
          <a:p>
            <a:r>
              <a:rPr lang="en-US" dirty="0"/>
              <a:t>Structural Bioinformatics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422" y="911224"/>
            <a:ext cx="8620454" cy="550008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Structural Bioinformatics is an interdisciplinary field that deals with the three dimensional structures of biomolecules.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attempts to model and discover the basic principles underlying biological  machinery at the molecular level.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It is based on the assumption  that 3D structural information of a biological system is the core to  understanding its mechanism of action and function.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Structural bioinformatics combines applications of physical and chemical  principles with algorithms from computational science.</a:t>
            </a:r>
          </a:p>
        </p:txBody>
      </p:sp>
    </p:spTree>
    <p:extLst>
      <p:ext uri="{BB962C8B-B14F-4D97-AF65-F5344CB8AC3E}">
        <p14:creationId xmlns:p14="http://schemas.microsoft.com/office/powerpoint/2010/main" val="1343976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547" y="158105"/>
            <a:ext cx="7886700" cy="483026"/>
          </a:xfrm>
        </p:spPr>
        <p:txBody>
          <a:bodyPr>
            <a:noAutofit/>
          </a:bodyPr>
          <a:lstStyle/>
          <a:p>
            <a:r>
              <a:rPr lang="en-US" sz="3200" dirty="0"/>
              <a:t>Major areas: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641130"/>
            <a:ext cx="8609943" cy="59488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protein and nucleic acid 3D structure determination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prediction of protein 3D structure from sequence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protein structure validation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protein structure comparison and alignment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protein and nucleic acid structure classification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inferring protein function from structure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prediction of protein-ligand interaction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prediction of protein-protein interactions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development of databases</a:t>
            </a:r>
          </a:p>
        </p:txBody>
      </p:sp>
    </p:spTree>
    <p:extLst>
      <p:ext uri="{BB962C8B-B14F-4D97-AF65-F5344CB8AC3E}">
        <p14:creationId xmlns:p14="http://schemas.microsoft.com/office/powerpoint/2010/main" val="50031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21"/>
            <a:ext cx="8103226" cy="59294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Challenges in the Post Genomic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196" y="941306"/>
            <a:ext cx="7886700" cy="2768846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/>
              <a:t>The completion of HGP (first draft 2002 and completion in 2003) and other genome projects were the first step towards the comprehensive understanding of life at molecular level.</a:t>
            </a:r>
          </a:p>
          <a:p>
            <a:pPr algn="just">
              <a:lnSpc>
                <a:spcPct val="160000"/>
              </a:lnSpc>
            </a:pPr>
            <a:r>
              <a:rPr lang="en-US" sz="1800" dirty="0"/>
              <a:t>One of the key issues is the characterization of structure and function of proteins with a view to using the findings in the discovery if novel drugs and therapeutic treatments.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7" y="3873692"/>
            <a:ext cx="7807443" cy="258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2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57" y="115615"/>
            <a:ext cx="7886700" cy="65164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Structure-function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095" y="767255"/>
            <a:ext cx="7886700" cy="2169173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/>
              <a:t>Structural bioinformatics is based on protein structure-function paradigm, which states that the function of a molecule is dictated by its 3d structure.</a:t>
            </a:r>
          </a:p>
          <a:p>
            <a:pPr algn="just">
              <a:lnSpc>
                <a:spcPct val="160000"/>
              </a:lnSpc>
            </a:pPr>
            <a:r>
              <a:rPr lang="en-US" sz="1800" dirty="0"/>
              <a:t>The challenges for post genomic era:</a:t>
            </a:r>
          </a:p>
          <a:p>
            <a:pPr lvl="1" algn="just">
              <a:lnSpc>
                <a:spcPct val="160000"/>
              </a:lnSpc>
            </a:pPr>
            <a:r>
              <a:rPr lang="en-US" sz="1800" dirty="0"/>
              <a:t>Obtain the 3D structure of all proteins encoded in the genomes.</a:t>
            </a:r>
          </a:p>
          <a:p>
            <a:pPr lvl="1" algn="just">
              <a:lnSpc>
                <a:spcPct val="160000"/>
              </a:lnSpc>
            </a:pPr>
            <a:r>
              <a:rPr lang="en-US" sz="1800" dirty="0"/>
              <a:t>Decode their function based on its structure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62" y="3368613"/>
            <a:ext cx="6873690" cy="335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6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084" t="59119" r="2037" b="786"/>
          <a:stretch/>
        </p:blipFill>
        <p:spPr>
          <a:xfrm>
            <a:off x="528033" y="3440654"/>
            <a:ext cx="8349352" cy="27919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216824"/>
            <a:ext cx="7886700" cy="3818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Is structure Sufficient to Predict Function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808195"/>
            <a:ext cx="7886700" cy="27721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Proteins are not static; to fulfil their function they undergo wide range of motion and conformational rearrangements.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An important component of SBI is development of experimental and computational methods (dynamics) that sheds the lights on the behavior of biological systems.</a:t>
            </a:r>
          </a:p>
        </p:txBody>
      </p:sp>
    </p:spTree>
    <p:extLst>
      <p:ext uri="{BB962C8B-B14F-4D97-AF65-F5344CB8AC3E}">
        <p14:creationId xmlns:p14="http://schemas.microsoft.com/office/powerpoint/2010/main" val="3222351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9" y="0"/>
            <a:ext cx="8386398" cy="67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4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122" t="2758" r="887"/>
          <a:stretch/>
        </p:blipFill>
        <p:spPr>
          <a:xfrm>
            <a:off x="493986" y="0"/>
            <a:ext cx="8355724" cy="677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0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2238" y="1605840"/>
            <a:ext cx="8123183" cy="118991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dirty="0"/>
              <a:t>Protein 3D Structure and Classification  Database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3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3570"/>
            <a:ext cx="7886700" cy="601826"/>
          </a:xfrm>
        </p:spPr>
        <p:txBody>
          <a:bodyPr>
            <a:normAutofit/>
          </a:bodyPr>
          <a:lstStyle/>
          <a:p>
            <a:r>
              <a:rPr lang="en-US" sz="3200" dirty="0"/>
              <a:t>Introduction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986" y="1127341"/>
            <a:ext cx="8694027" cy="490559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Protein data bank is an archive of experimentally determined 3D structures of biological macromolecules.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was established in 1971 by Research Collaboratory for Structural Bioinformatics (RCSB) (Brookhaven Laboratories, USA)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is a single worldwide repository for structures of biological macromolecules.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aims towards the efficient collection and curation of data.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It maintains an organized system- integrating the steps of data deposition, annotation and validation. There are many awaiting release- called unreleased entries and information is given separately. </a:t>
            </a:r>
          </a:p>
        </p:txBody>
      </p:sp>
    </p:spTree>
    <p:extLst>
      <p:ext uri="{BB962C8B-B14F-4D97-AF65-F5344CB8AC3E}">
        <p14:creationId xmlns:p14="http://schemas.microsoft.com/office/powerpoint/2010/main" val="2286535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974" y="81346"/>
            <a:ext cx="7886700" cy="570295"/>
          </a:xfrm>
        </p:spPr>
        <p:txBody>
          <a:bodyPr>
            <a:noAutofit/>
          </a:bodyPr>
          <a:lstStyle/>
          <a:p>
            <a:r>
              <a:rPr lang="en-US" sz="3200" dirty="0"/>
              <a:t>History of PDB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787" y="935420"/>
            <a:ext cx="8620453" cy="560201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worldwide protein data bank (</a:t>
            </a:r>
            <a:r>
              <a:rPr lang="en-US" sz="2000" dirty="0">
                <a:hlinkClick r:id="rId2"/>
              </a:rPr>
              <a:t>www.wwPDB.org</a:t>
            </a:r>
            <a:r>
              <a:rPr lang="en-US" sz="2000" dirty="0"/>
              <a:t>) was established in 2003.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RCSB, Macromolecular Structure Database (MSD), European Bioinformatics Institute (EBI), Protein Databank of Japan (PDBJ), Institute for Protein Research, Osaka University were the founding members of the Data bank.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Proper guidelines has been made for the distribution data, maintain a single PDB archive of macromolecular structural data which should be available to global scientific community. </a:t>
            </a:r>
          </a:p>
        </p:txBody>
      </p:sp>
    </p:spTree>
    <p:extLst>
      <p:ext uri="{BB962C8B-B14F-4D97-AF65-F5344CB8AC3E}">
        <p14:creationId xmlns:p14="http://schemas.microsoft.com/office/powerpoint/2010/main" val="196310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7" y="669049"/>
            <a:ext cx="8992093" cy="523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0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228493"/>
            <a:ext cx="7886700" cy="507232"/>
          </a:xfrm>
        </p:spPr>
        <p:txBody>
          <a:bodyPr>
            <a:noAutofit/>
          </a:bodyPr>
          <a:lstStyle/>
          <a:p>
            <a:r>
              <a:rPr lang="en-US" sz="3600" dirty="0"/>
              <a:t>Download a structure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381" y="945931"/>
            <a:ext cx="8525860" cy="461995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The structure files obtained from experimental methods such as NMR,X-ray crystallography, etc., can be downloaded form WWW or from FTP site.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Multiple sites can also be retrieved using multiple PDB Ids separated by commas or spaces.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The structure download page helps to download in three formats- PDB format, mace format and PDBML/XML format.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One can choose to download a file or multiple files either uncompressed files or zip files to reduce the size of the files.</a:t>
            </a:r>
          </a:p>
        </p:txBody>
      </p:sp>
    </p:spTree>
    <p:extLst>
      <p:ext uri="{BB962C8B-B14F-4D97-AF65-F5344CB8AC3E}">
        <p14:creationId xmlns:p14="http://schemas.microsoft.com/office/powerpoint/2010/main" val="2911844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448" t="12456" r="5786" b="5149"/>
          <a:stretch/>
        </p:blipFill>
        <p:spPr>
          <a:xfrm>
            <a:off x="77274" y="1043190"/>
            <a:ext cx="9028090" cy="502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47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608" y="73574"/>
            <a:ext cx="7874219" cy="55704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Data Deposition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960" y="630622"/>
            <a:ext cx="8459688" cy="6001406"/>
          </a:xfrm>
        </p:spPr>
        <p:txBody>
          <a:bodyPr>
            <a:noAutofit/>
          </a:bodyPr>
          <a:lstStyle/>
          <a:p>
            <a:pPr algn="just"/>
            <a:r>
              <a:rPr lang="en-US" sz="1800" dirty="0"/>
              <a:t>Auto Dep Input Tool (ADIT)</a:t>
            </a:r>
          </a:p>
          <a:p>
            <a:pPr lvl="1" algn="just"/>
            <a:r>
              <a:rPr lang="en-US" sz="1600" dirty="0"/>
              <a:t>Developed by RCSB </a:t>
            </a:r>
          </a:p>
          <a:p>
            <a:pPr lvl="1" algn="just"/>
            <a:r>
              <a:rPr lang="en-US" sz="1600" dirty="0"/>
              <a:t>Provides the checking of the format of the coordinate, structure factor file, and performs validation tests on deposition in the database.</a:t>
            </a:r>
          </a:p>
          <a:p>
            <a:pPr lvl="1" algn="just"/>
            <a:r>
              <a:rPr lang="en-US" sz="1600" dirty="0"/>
              <a:t>ADIT facilitates the incorporation of any additional information during the process.</a:t>
            </a:r>
          </a:p>
          <a:p>
            <a:pPr algn="just"/>
            <a:r>
              <a:rPr lang="en-US" sz="1800" dirty="0" err="1"/>
              <a:t>pdb_extract</a:t>
            </a:r>
            <a:endParaRPr lang="en-US" sz="1800" dirty="0"/>
          </a:p>
          <a:p>
            <a:pPr lvl="1" algn="just"/>
            <a:r>
              <a:rPr lang="en-US" sz="1600" dirty="0"/>
              <a:t>Online tool which aims to reduce the manual labour needed to assemble the statistical information from the output files generated during the protein structure deamination using X-ray or NMR methods.</a:t>
            </a:r>
          </a:p>
          <a:p>
            <a:pPr lvl="1" algn="just"/>
            <a:r>
              <a:rPr lang="en-US" sz="1600" dirty="0"/>
              <a:t>It generates two </a:t>
            </a:r>
            <a:r>
              <a:rPr lang="en-US" sz="1600" dirty="0" err="1"/>
              <a:t>mmCIF</a:t>
            </a:r>
            <a:r>
              <a:rPr lang="en-US" sz="1600" dirty="0"/>
              <a:t> (macromolecular Crystallographic Information) where all the coordinates are merged.</a:t>
            </a:r>
          </a:p>
          <a:p>
            <a:pPr lvl="1" algn="just"/>
            <a:r>
              <a:rPr lang="en-US" sz="1600" dirty="0"/>
              <a:t>One file contains structure factor and other file contains atomic coordinate  and these two files serve as PDB deposition</a:t>
            </a:r>
          </a:p>
          <a:p>
            <a:pPr algn="just"/>
            <a:r>
              <a:rPr lang="en-US" sz="1800" dirty="0"/>
              <a:t>Ligand Depot</a:t>
            </a:r>
          </a:p>
          <a:p>
            <a:pPr lvl="1" algn="just"/>
            <a:r>
              <a:rPr lang="en-US" sz="1600" dirty="0"/>
              <a:t>Serves as a data resource which integrates information related to small molecules bound to macromolecules. It includes the chemical and structural information</a:t>
            </a:r>
          </a:p>
          <a:p>
            <a:pPr algn="just"/>
            <a:r>
              <a:rPr lang="en-US" sz="1800" dirty="0"/>
              <a:t>Validation server</a:t>
            </a:r>
          </a:p>
          <a:p>
            <a:pPr lvl="1" algn="just"/>
            <a:r>
              <a:rPr lang="en-US" sz="1600" dirty="0"/>
              <a:t>Provides the opportunity of checking the format of coordinate and structure factor files with help of RCSB.</a:t>
            </a:r>
          </a:p>
          <a:p>
            <a:pPr lvl="1" algn="just"/>
            <a:r>
              <a:rPr lang="en-US" sz="1600" dirty="0"/>
              <a:t>Two operators - Pre-check and validate. (PDB or </a:t>
            </a:r>
            <a:r>
              <a:rPr lang="en-US" sz="1600" dirty="0" err="1"/>
              <a:t>mmCIF</a:t>
            </a:r>
            <a:r>
              <a:rPr lang="en-US" sz="1600" dirty="0"/>
              <a:t>)</a:t>
            </a:r>
          </a:p>
          <a:p>
            <a:pPr lvl="1" algn="just"/>
            <a:r>
              <a:rPr lang="en-US" sz="1600" dirty="0"/>
              <a:t>The report contains the summary information, including bond distance, angle comparison, molecular images. </a:t>
            </a:r>
          </a:p>
        </p:txBody>
      </p:sp>
    </p:spTree>
    <p:extLst>
      <p:ext uri="{BB962C8B-B14F-4D97-AF65-F5344CB8AC3E}">
        <p14:creationId xmlns:p14="http://schemas.microsoft.com/office/powerpoint/2010/main" val="3754233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767" y="366464"/>
            <a:ext cx="8673005" cy="609739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Data which includes atomic coordinators, structure factors, and NMR restraints are further processed by </a:t>
            </a:r>
            <a:r>
              <a:rPr lang="en-US" sz="1800" dirty="0" err="1"/>
              <a:t>pdb_extract</a:t>
            </a:r>
            <a:r>
              <a:rPr lang="en-US" sz="1800" dirty="0"/>
              <a:t> to prepare two files (</a:t>
            </a:r>
            <a:r>
              <a:rPr lang="en-US" sz="1800" dirty="0" err="1"/>
              <a:t>mmCIF</a:t>
            </a:r>
            <a:r>
              <a:rPr lang="en-US" sz="1800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Structure is validating using validation server ADIT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Immediately after depositing a structure is deposited using ADIT, a PDB identifier is sent to author automatically and structure is loaded in the internal-core database. 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Entry is annotated and process involved ADIT to help diagnose errors or any inconsistence in the files.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/>
              <a:t>The completely annotated entry, as it will appear in the PDB resource, together with validating information is sent back to depositor.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/>
              <a:t>After review, authors send revisions if any.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/>
              <a:t>Depending on the nature of revision first two steps will be repeated.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/>
              <a:t>Once approval is received from the author, the entry and the tables in the internal-core database is ready for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4063447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567" y="123389"/>
            <a:ext cx="7886700" cy="538764"/>
          </a:xfrm>
        </p:spPr>
        <p:txBody>
          <a:bodyPr>
            <a:normAutofit/>
          </a:bodyPr>
          <a:lstStyle/>
          <a:p>
            <a:r>
              <a:rPr lang="en-US" sz="3200" dirty="0"/>
              <a:t>Molecular modelling Databases MMDB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809" y="816631"/>
            <a:ext cx="8578412" cy="555263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There are two databases of NCBI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Molecular modelling database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Conserved domain database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MMDB is the revised version of PDB structures- containing experimentally determined bimolecular structures obtained from PDB.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CCD provides a directory of sequence and structure alignments representing conserved functional domains with in the proteins.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Common points: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To retrieve and view structure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To find the structurally similar proteins to a protein of interest</a:t>
            </a:r>
          </a:p>
          <a:p>
            <a:pPr lvl="1" algn="just">
              <a:lnSpc>
                <a:spcPct val="170000"/>
              </a:lnSpc>
            </a:pPr>
            <a:r>
              <a:rPr lang="en-US" dirty="0"/>
              <a:t>Identify the conserved functional sites</a:t>
            </a:r>
          </a:p>
        </p:txBody>
      </p:sp>
    </p:spTree>
    <p:extLst>
      <p:ext uri="{BB962C8B-B14F-4D97-AF65-F5344CB8AC3E}">
        <p14:creationId xmlns:p14="http://schemas.microsoft.com/office/powerpoint/2010/main" val="1571805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348" t="18794" r="7635" b="11488"/>
          <a:stretch/>
        </p:blipFill>
        <p:spPr>
          <a:xfrm>
            <a:off x="90153" y="1326524"/>
            <a:ext cx="8963696" cy="408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1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07" t="8610" r="2616" b="6489"/>
          <a:stretch/>
        </p:blipFill>
        <p:spPr>
          <a:xfrm>
            <a:off x="110137" y="472965"/>
            <a:ext cx="8856085" cy="585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10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644" b="5275"/>
          <a:stretch/>
        </p:blipFill>
        <p:spPr>
          <a:xfrm>
            <a:off x="180304" y="224374"/>
            <a:ext cx="8781978" cy="627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4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80" t="1998" r="1473" b="2967"/>
          <a:stretch/>
        </p:blipFill>
        <p:spPr>
          <a:xfrm>
            <a:off x="360608" y="334850"/>
            <a:ext cx="8574514" cy="62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60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27" y="224374"/>
            <a:ext cx="8618144" cy="64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42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56" y="156626"/>
            <a:ext cx="8654603" cy="649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16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8745" y="217982"/>
            <a:ext cx="8578414" cy="65437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Protein structure classification database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64601" y="872360"/>
            <a:ext cx="8232557" cy="52761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900" dirty="0"/>
              <a:t>Classify proteins based on their structure.</a:t>
            </a:r>
          </a:p>
          <a:p>
            <a:pPr algn="just">
              <a:lnSpc>
                <a:spcPct val="150000"/>
              </a:lnSpc>
            </a:pPr>
            <a:r>
              <a:rPr lang="en-US" sz="1900" dirty="0"/>
              <a:t>Helps in different ways like building a model of the proteins based on their structural similarity.</a:t>
            </a:r>
          </a:p>
          <a:p>
            <a:pPr algn="just">
              <a:lnSpc>
                <a:spcPct val="150000"/>
              </a:lnSpc>
            </a:pPr>
            <a:r>
              <a:rPr lang="en-US" sz="1900" dirty="0"/>
              <a:t>The reasons for such classification are:</a:t>
            </a:r>
          </a:p>
          <a:p>
            <a:pPr lvl="1" algn="just">
              <a:lnSpc>
                <a:spcPct val="150000"/>
              </a:lnSpc>
            </a:pPr>
            <a:r>
              <a:rPr lang="en-US" sz="1900" dirty="0"/>
              <a:t>The number of solved  structures are growing rapidly</a:t>
            </a:r>
          </a:p>
          <a:p>
            <a:pPr lvl="1" algn="just">
              <a:lnSpc>
                <a:spcPct val="150000"/>
              </a:lnSpc>
            </a:pPr>
            <a:r>
              <a:rPr lang="en-US" sz="1900" dirty="0"/>
              <a:t>This helps to detect similarities (evolutionary relation ships)</a:t>
            </a:r>
          </a:p>
          <a:p>
            <a:pPr lvl="1" algn="just">
              <a:lnSpc>
                <a:spcPct val="150000"/>
              </a:lnSpc>
            </a:pPr>
            <a:r>
              <a:rPr lang="en-US" sz="1900" dirty="0"/>
              <a:t>This can aid in building a model of a protein based on the proteins from the same class.</a:t>
            </a:r>
          </a:p>
          <a:p>
            <a:pPr lvl="1" algn="just">
              <a:lnSpc>
                <a:spcPct val="150000"/>
              </a:lnSpc>
            </a:pPr>
            <a:r>
              <a:rPr lang="en-US" sz="1900" dirty="0"/>
              <a:t>This can help in setting up prediction benchmarks.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19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CATH- 	</a:t>
            </a:r>
            <a:r>
              <a:rPr lang="en-US" sz="2000" b="1" dirty="0"/>
              <a:t>CLASS, ARCHITECTURE, TOPOLOGY, HOMOLOGOUS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It is hierarchical domain classification of protein structures in the Brookhaven PBD.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Crystal structures of resolution better than 3.0  A</a:t>
            </a:r>
            <a:r>
              <a:rPr lang="en-US" sz="2400" baseline="30000" dirty="0"/>
              <a:t>0</a:t>
            </a:r>
            <a:r>
              <a:rPr lang="en-US" sz="2400" dirty="0"/>
              <a:t> are only considered along with NMR structures.</a:t>
            </a:r>
            <a:endParaRPr 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2020296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87" y="1491546"/>
            <a:ext cx="8103226" cy="5192589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Structure comparison: sequential structure alignment program (SSAP) and manual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Domain separated using programs and human expert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Class in CATH similar to SCOP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Architecture is unique to CATH – describes overall packing and arrangement  of secondary structures independent of connectivity between the elements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Topology equivalent to fold in SCOP – describes overall orientation of  secondary structures and sequence connectivity between secondary structure elements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Homologous superfamily and homologous family equivalent to superfamily and family levels in SCOP</a:t>
            </a:r>
          </a:p>
        </p:txBody>
      </p:sp>
    </p:spTree>
    <p:extLst>
      <p:ext uri="{BB962C8B-B14F-4D97-AF65-F5344CB8AC3E}">
        <p14:creationId xmlns:p14="http://schemas.microsoft.com/office/powerpoint/2010/main" val="3270449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424" t="12632" r="12418" b="6734"/>
          <a:stretch/>
        </p:blipFill>
        <p:spPr>
          <a:xfrm>
            <a:off x="180305" y="927278"/>
            <a:ext cx="8845649" cy="488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70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333"/>
            <a:ext cx="7886700" cy="612329"/>
          </a:xfrm>
        </p:spPr>
        <p:txBody>
          <a:bodyPr>
            <a:normAutofit/>
          </a:bodyPr>
          <a:lstStyle/>
          <a:p>
            <a:r>
              <a:rPr lang="en-US" sz="3200" dirty="0"/>
              <a:t>Class, C-level (automated)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442" y="764662"/>
            <a:ext cx="8546881" cy="4344834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Class is determined according to the secondary structure composition and packing with in the structure.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It can be assigned automatically for over 90% of the known structures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For the remainder,  manual inspection is used and necessary information from the literature is taken into account.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59773940"/>
              </p:ext>
            </p:extLst>
          </p:nvPr>
        </p:nvGraphicFramePr>
        <p:xfrm>
          <a:off x="3037935" y="4749470"/>
          <a:ext cx="4310128" cy="1944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9760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26" y="365126"/>
            <a:ext cx="5178178" cy="64297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9735" y="5487506"/>
            <a:ext cx="337426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Schematic representation of</a:t>
            </a:r>
          </a:p>
          <a:p>
            <a:pPr algn="just"/>
            <a:r>
              <a:rPr lang="en-US" dirty="0"/>
              <a:t>the (C)lass, (A)</a:t>
            </a:r>
            <a:r>
              <a:rPr lang="en-US" dirty="0" err="1"/>
              <a:t>rchitecture</a:t>
            </a:r>
            <a:r>
              <a:rPr lang="en-US" dirty="0"/>
              <a:t> and</a:t>
            </a:r>
          </a:p>
          <a:p>
            <a:pPr algn="just"/>
            <a:r>
              <a:rPr lang="en-US" dirty="0"/>
              <a:t>(T)</a:t>
            </a:r>
            <a:r>
              <a:rPr lang="en-US" dirty="0" err="1"/>
              <a:t>opology</a:t>
            </a:r>
            <a:r>
              <a:rPr lang="en-US" dirty="0"/>
              <a:t>/fold levels in the</a:t>
            </a:r>
          </a:p>
          <a:p>
            <a:pPr algn="just"/>
            <a:r>
              <a:rPr lang="en-US" dirty="0"/>
              <a:t>CATH database.</a:t>
            </a:r>
          </a:p>
        </p:txBody>
      </p:sp>
    </p:spTree>
    <p:extLst>
      <p:ext uri="{BB962C8B-B14F-4D97-AF65-F5344CB8AC3E}">
        <p14:creationId xmlns:p14="http://schemas.microsoft.com/office/powerpoint/2010/main" val="2961531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7472"/>
            <a:ext cx="7886700" cy="601825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Architecture, A level (manual)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339" y="953266"/>
            <a:ext cx="8546881" cy="527936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This describes the overall shape of the domain structure as determined by the orientations of the secondary structures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It is currently assigned manually using a simple description of the secondary structure arrangement. E.g. barrel or a three-layer  sandwich</a:t>
            </a:r>
          </a:p>
        </p:txBody>
      </p:sp>
    </p:spTree>
    <p:extLst>
      <p:ext uri="{BB962C8B-B14F-4D97-AF65-F5344CB8AC3E}">
        <p14:creationId xmlns:p14="http://schemas.microsoft.com/office/powerpoint/2010/main" val="880761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3900"/>
            <a:ext cx="7886700" cy="717438"/>
          </a:xfrm>
        </p:spPr>
        <p:txBody>
          <a:bodyPr/>
          <a:lstStyle/>
          <a:p>
            <a:r>
              <a:rPr lang="en-US" dirty="0"/>
              <a:t>Topology (fold family), </a:t>
            </a:r>
            <a:r>
              <a:rPr lang="en-US" sz="2000" dirty="0"/>
              <a:t>T-level (semi-automated)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870" y="1018027"/>
            <a:ext cx="8378715" cy="536175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Structures are grouped into the fold families at this level depending on both the overall shape and connectivity of the secondary structures.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This is done using the structures comparison algorithm SSAP.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Parameters for clustering the domains  into the same fold family have been determined by trials throughout the databanks.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Structures which have a SSAP score of 70 and where at least 60% of the larger protein matches the smaller protein are assigned to the same T level fold family</a:t>
            </a:r>
          </a:p>
        </p:txBody>
      </p:sp>
    </p:spTree>
    <p:extLst>
      <p:ext uri="{BB962C8B-B14F-4D97-AF65-F5344CB8AC3E}">
        <p14:creationId xmlns:p14="http://schemas.microsoft.com/office/powerpoint/2010/main" val="3846165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1857"/>
            <a:ext cx="7886700" cy="591315"/>
          </a:xfrm>
        </p:spPr>
        <p:txBody>
          <a:bodyPr>
            <a:normAutofit fontScale="90000"/>
          </a:bodyPr>
          <a:lstStyle/>
          <a:p>
            <a:r>
              <a:rPr lang="en-US" dirty="0"/>
              <a:t>Homologous Superfamily, </a:t>
            </a:r>
            <a:r>
              <a:rPr lang="en-US" sz="1400" dirty="0"/>
              <a:t>H-level (semi-automated)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774590"/>
            <a:ext cx="8378716" cy="54580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At the H-level, structures are grouped by their high structural similarities and similar functions.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This suggests that they may have evolved from a common ancestor, particularity where there are resemblances in the core-packing or putative-active sites.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This is equivalent to super family in the SCOP database.</a:t>
            </a:r>
          </a:p>
        </p:txBody>
      </p:sp>
    </p:spTree>
    <p:extLst>
      <p:ext uri="{BB962C8B-B14F-4D97-AF65-F5344CB8AC3E}">
        <p14:creationId xmlns:p14="http://schemas.microsoft.com/office/powerpoint/2010/main" val="2915327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1348"/>
            <a:ext cx="7886700" cy="612336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families, </a:t>
            </a:r>
            <a:r>
              <a:rPr lang="en-US" sz="2800" dirty="0"/>
              <a:t>S -level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932" y="827141"/>
            <a:ext cx="8357695" cy="554212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US" sz="20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Structure within each H-level are further clustered on the sequence identity.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Domains clustered in the same sequence families have sequence identities &gt;35% (with at least 60% of the larger domain equivalent to the smaller), indicating higher similar structure and functions</a:t>
            </a:r>
          </a:p>
        </p:txBody>
      </p:sp>
    </p:spTree>
    <p:extLst>
      <p:ext uri="{BB962C8B-B14F-4D97-AF65-F5344CB8AC3E}">
        <p14:creationId xmlns:p14="http://schemas.microsoft.com/office/powerpoint/2010/main" val="2601991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0534"/>
            <a:ext cx="7886700" cy="664888"/>
          </a:xfrm>
        </p:spPr>
        <p:txBody>
          <a:bodyPr>
            <a:normAutofit fontScale="90000"/>
          </a:bodyPr>
          <a:lstStyle/>
          <a:p>
            <a:r>
              <a:rPr lang="en-US" dirty="0"/>
              <a:t>SCOP – </a:t>
            </a:r>
            <a:r>
              <a:rPr lang="en-US" sz="3200" dirty="0"/>
              <a:t>(Structural Classification of Proteins)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SCOP is a comprehensive database of all proteins of known structures, according to their evolutionary and structural relationship.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 main focus is conserved structural features (evolutionary framework)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Fundamental unit of classification in the SCOP database is the protein domain.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53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72" t="3847" r="2635" b="2802"/>
          <a:stretch/>
        </p:blipFill>
        <p:spPr>
          <a:xfrm>
            <a:off x="202953" y="443063"/>
            <a:ext cx="8784300" cy="507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06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877" y="52551"/>
            <a:ext cx="7886700" cy="391618"/>
          </a:xfrm>
        </p:spPr>
        <p:txBody>
          <a:bodyPr>
            <a:noAutofit/>
          </a:bodyPr>
          <a:lstStyle/>
          <a:p>
            <a:r>
              <a:rPr lang="en-US" sz="3200" dirty="0"/>
              <a:t>SCOP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877" y="444168"/>
            <a:ext cx="8410246" cy="63244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Manual comparison by human experts 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Hierarchical classification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Family &gt; 30% sequence identity – close evolutionary relationship – normally same functionality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Superfamilies – similar structures – weak sequence similarity – share  common ancestral origin – relationship between families distant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Folds </a:t>
            </a:r>
            <a:r>
              <a:rPr lang="en-US" sz="2000"/>
              <a:t>– superfamilies' </a:t>
            </a:r>
            <a:r>
              <a:rPr lang="en-US" sz="2000" dirty="0"/>
              <a:t>with common core structure – manual - similar overall  secondary structures – similar orientation and connectivity - members of same fold do not always have evolutionary relationship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Classes – folds with similar core structures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Some classes based on general features; membrane proteins, small proteins, irregular proteins</a:t>
            </a:r>
          </a:p>
        </p:txBody>
      </p:sp>
    </p:spTree>
    <p:extLst>
      <p:ext uri="{BB962C8B-B14F-4D97-AF65-F5344CB8AC3E}">
        <p14:creationId xmlns:p14="http://schemas.microsoft.com/office/powerpoint/2010/main" val="3010789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Versions…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PDB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46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538764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Version History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567" y="679996"/>
            <a:ext cx="8147488" cy="548957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/>
              <a:t>Version 2.3: The format in which structures were released from 1998 to July 2007.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Version 3.0:  Major update from Version 2.3; incorporates all of the revisions used by the wwPDB to integrate uniformity and remediation data into a single set of archival data files including IUPAC nomenclature.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Version 3.1: Minor addenda to Version 3.0, introducing a small number of changes and extensions supporting the annotation practices adopted by the wwPDB beginning in August 2007 including chain ID standardization and biological assembly .</a:t>
            </a:r>
          </a:p>
          <a:p>
            <a:pPr algn="just">
              <a:lnSpc>
                <a:spcPct val="150000"/>
              </a:lnSpc>
            </a:pPr>
            <a:r>
              <a:rPr lang="en-US" sz="1800" dirty="0"/>
              <a:t>Version 3.15: Minor addenda to Version 3.20, introducing a small number of changes and extensions supporting the annotation practices adopted by the wwPDB beginning in October 2008 including DBREF, taxonomy and citation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40115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001" y="208374"/>
            <a:ext cx="8860221" cy="6234956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800" dirty="0"/>
              <a:t>Version 3.20: Minor addenda to Version 3.1, introducing a small number of changes and extensions supporting the annotation practices adopted by the wwPDB beginning in December 2008 including DBREF, taxonomy and citation information.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September 15 2008, initial version 3.20.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November 15 2008, add examples for Refmac template and coordinate with alternate conformation.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December 24 2008, update REMARK 3 templates/examples, add </a:t>
            </a:r>
            <a:r>
              <a:rPr lang="en-US" sz="1800" dirty="0" err="1"/>
              <a:t>Norine</a:t>
            </a:r>
            <a:r>
              <a:rPr lang="en-US" sz="1800" dirty="0"/>
              <a:t> database in DBREF, update REMARK 500 on chiral center.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February 12 2009, update example in REMARK 210 and record format in NUMMDL.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July 6 2009, update description for REVDAT, DBREF2, MASTER and extend number of columns for AUTHOR, JRNL, CAVEAT, KEYWDS, etc.</a:t>
            </a:r>
          </a:p>
          <a:p>
            <a:pPr lvl="1">
              <a:lnSpc>
                <a:spcPct val="170000"/>
              </a:lnSpc>
            </a:pPr>
            <a:r>
              <a:rPr lang="en-US" sz="1800" dirty="0"/>
              <a:t>December 22, 2009, update CAVEAT and REMARK 265.</a:t>
            </a:r>
          </a:p>
        </p:txBody>
      </p:sp>
    </p:spTree>
    <p:extLst>
      <p:ext uri="{BB962C8B-B14F-4D97-AF65-F5344CB8AC3E}">
        <p14:creationId xmlns:p14="http://schemas.microsoft.com/office/powerpoint/2010/main" val="2087187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6312" y="0"/>
            <a:ext cx="8413530" cy="6684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Version 3.20: continues….</a:t>
            </a:r>
          </a:p>
          <a:p>
            <a:pPr marL="742950" lvl="1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April 21, 2010, update REMARK 5 and add BUSTER-TNT template in REMARK 3. </a:t>
            </a:r>
          </a:p>
          <a:p>
            <a:pPr marL="742950" lvl="1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December 06, 2010, update maximum number of atoms for model. Update REMARK 3 with B value type for Refmac template.</a:t>
            </a:r>
          </a:p>
          <a:p>
            <a:pPr marL="742950" lvl="1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March 30, 2011, correct description and examples for FORMUL and CONECT records. Change template in REMARK 630. 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 Version 3.30: Current version, minor addenda to Version 3.2. , introducing a small number of changes and extensions supporting the annotation practices adopted by the wwPDB beginning in July 13 2011 including REMARK 0, REMARK 3, REMARK 400 and REMARK 630.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July 13 2011, initial version 3.30.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October 05, 2011, update REMARK 350 and OBSOLETE.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May 09, 2012, update description in REMARK 470, HET, ATOM and MODEL.</a:t>
            </a:r>
          </a:p>
          <a:p>
            <a:pPr marL="742950" lvl="1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dirty="0"/>
              <a:t>November 21, 2012, minor typo corrections.</a:t>
            </a:r>
            <a:endParaRPr lang="en-IN" sz="600" dirty="0"/>
          </a:p>
        </p:txBody>
      </p:sp>
    </p:spTree>
    <p:extLst>
      <p:ext uri="{BB962C8B-B14F-4D97-AF65-F5344CB8AC3E}">
        <p14:creationId xmlns:p14="http://schemas.microsoft.com/office/powerpoint/2010/main" val="1024742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784</TotalTime>
  <Words>2090</Words>
  <Application>Microsoft Office PowerPoint</Application>
  <PresentationFormat>On-screen Show (4:3)</PresentationFormat>
  <Paragraphs>159</Paragraphs>
  <Slides>40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Structural Bioinformatics</vt:lpstr>
      <vt:lpstr>Structural Bioinformatics</vt:lpstr>
      <vt:lpstr>Major areas:</vt:lpstr>
      <vt:lpstr>Challenges in the Post Genomic era</vt:lpstr>
      <vt:lpstr>Structure-function paradigm</vt:lpstr>
      <vt:lpstr>Is structure Sufficient to Predict Function</vt:lpstr>
      <vt:lpstr>PowerPoint Presentation</vt:lpstr>
      <vt:lpstr>PowerPoint Presentation</vt:lpstr>
      <vt:lpstr>Protein 3D Structure and Classification  Database</vt:lpstr>
      <vt:lpstr>Introduction</vt:lpstr>
      <vt:lpstr>History of PDB</vt:lpstr>
      <vt:lpstr>PowerPoint Presentation</vt:lpstr>
      <vt:lpstr>Download a structure file</vt:lpstr>
      <vt:lpstr>PowerPoint Presentation</vt:lpstr>
      <vt:lpstr>Data Deposition Tools</vt:lpstr>
      <vt:lpstr>PowerPoint Presentation</vt:lpstr>
      <vt:lpstr>Molecular modelling Databases MMDB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Protein structure classification database</vt:lpstr>
      <vt:lpstr>CATH-  CLASS, ARCHITECTURE, TOPOLOGY, HOMOLOGOUS</vt:lpstr>
      <vt:lpstr>PowerPoint Presentation</vt:lpstr>
      <vt:lpstr>PowerPoint Presentation</vt:lpstr>
      <vt:lpstr>Class, C-level (automated)</vt:lpstr>
      <vt:lpstr>PowerPoint Presentation</vt:lpstr>
      <vt:lpstr>Architecture, A level (manual)</vt:lpstr>
      <vt:lpstr>Topology (fold family), T-level (semi-automated)</vt:lpstr>
      <vt:lpstr>Homologous Superfamily, H-level (semi-automated)</vt:lpstr>
      <vt:lpstr>Sequence families, S -level</vt:lpstr>
      <vt:lpstr>SCOP – (Structural Classification of Proteins)</vt:lpstr>
      <vt:lpstr>PowerPoint Presentation</vt:lpstr>
      <vt:lpstr>SCOP</vt:lpstr>
      <vt:lpstr>Versions…</vt:lpstr>
      <vt:lpstr>Version History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Protein Structure Database</dc:title>
  <dc:creator>manoj</dc:creator>
  <cp:lastModifiedBy>Manoj Bhat K - [ASAI]</cp:lastModifiedBy>
  <cp:revision>48</cp:revision>
  <dcterms:created xsi:type="dcterms:W3CDTF">2015-08-12T06:40:02Z</dcterms:created>
  <dcterms:modified xsi:type="dcterms:W3CDTF">2026-08-03T05:43:50Z</dcterms:modified>
</cp:coreProperties>
</file>